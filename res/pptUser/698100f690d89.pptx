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60" r:id="rId3"/>
    <p:sldId id="257" r:id="rId4"/>
    <p:sldId id="278" r:id="rId5"/>
    <p:sldId id="279" r:id="rId6"/>
    <p:sldId id="258" r:id="rId7"/>
    <p:sldId id="277" r:id="rId8"/>
    <p:sldId id="263" r:id="rId9"/>
    <p:sldId id="264" r:id="rId10"/>
    <p:sldId id="270" r:id="rId11"/>
    <p:sldId id="280" r:id="rId12"/>
    <p:sldId id="281" r:id="rId13"/>
    <p:sldId id="282" r:id="rId14"/>
    <p:sldId id="272" r:id="rId15"/>
    <p:sldId id="273"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616"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09441" y="4956051"/>
            <a:ext cx="10791153" cy="458115"/>
          </a:xfrm>
          <a:effectLst>
            <a:outerShdw blurRad="50800" dist="25400" dir="2700000" algn="tl" rotWithShape="0">
              <a:prstClr val="black">
                <a:alpha val="61000"/>
              </a:prstClr>
            </a:outerShdw>
          </a:effectLst>
        </p:spPr>
        <p:txBody>
          <a:bodyPr>
            <a:normAutofit/>
          </a:bodyPr>
          <a:lstStyle>
            <a:lvl1pPr algn="l">
              <a:defRPr sz="3600">
                <a:solidFill>
                  <a:srgbClr val="FFFF00"/>
                </a:solidFill>
              </a:defRPr>
            </a:lvl1pPr>
          </a:lstStyle>
          <a:p>
            <a:r>
              <a:rPr lang="en-US"/>
              <a:t>Click to edit Master title style</a:t>
            </a:r>
            <a:endParaRPr lang="en-US" dirty="0"/>
          </a:p>
        </p:txBody>
      </p:sp>
      <p:sp>
        <p:nvSpPr>
          <p:cNvPr id="3" name="Subtitle 2"/>
          <p:cNvSpPr>
            <a:spLocks noGrp="1"/>
          </p:cNvSpPr>
          <p:nvPr>
            <p:ph type="subTitle" idx="1"/>
          </p:nvPr>
        </p:nvSpPr>
        <p:spPr>
          <a:xfrm>
            <a:off x="1209440" y="5566871"/>
            <a:ext cx="8534400" cy="458115"/>
          </a:xfrm>
        </p:spPr>
        <p:txBody>
          <a:bodyPr>
            <a:normAutofit/>
          </a:bodyPr>
          <a:lstStyle>
            <a:lvl1pPr marL="0" indent="0" algn="l">
              <a:buNone/>
              <a:defRPr sz="2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smtClean="0"/>
              <a:pPr/>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11856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014" y="1443835"/>
            <a:ext cx="11401973" cy="610820"/>
          </a:xfrm>
        </p:spPr>
        <p:txBody>
          <a:bodyPr>
            <a:normAutofit/>
          </a:bodyPr>
          <a:lstStyle>
            <a:lvl1pPr algn="l">
              <a:defRPr sz="3600">
                <a:solidFill>
                  <a:srgbClr val="FFFF00"/>
                </a:solidFill>
              </a:defRPr>
            </a:lvl1pPr>
          </a:lstStyle>
          <a:p>
            <a:r>
              <a:rPr lang="en-US"/>
              <a:t>Click to edit Master title style</a:t>
            </a:r>
            <a:endParaRPr lang="en-US" dirty="0"/>
          </a:p>
        </p:txBody>
      </p:sp>
      <p:sp>
        <p:nvSpPr>
          <p:cNvPr id="3" name="Content Placeholder 2"/>
          <p:cNvSpPr>
            <a:spLocks noGrp="1"/>
          </p:cNvSpPr>
          <p:nvPr>
            <p:ph idx="1"/>
          </p:nvPr>
        </p:nvSpPr>
        <p:spPr>
          <a:xfrm>
            <a:off x="395014" y="2054655"/>
            <a:ext cx="11401973" cy="4428445"/>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pPr/>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45179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6"/>
            <a:ext cx="9354927" cy="684885"/>
          </a:xfrm>
        </p:spPr>
        <p:txBody>
          <a:bodyPr>
            <a:normAutofit/>
          </a:bodyPr>
          <a:lstStyle>
            <a:lvl1pPr algn="l">
              <a:defRPr sz="3600">
                <a:solidFill>
                  <a:srgbClr val="FFFF00"/>
                </a:solidFill>
              </a:defRPr>
            </a:lvl1pPr>
          </a:lstStyle>
          <a:p>
            <a:r>
              <a:rPr lang="en-US"/>
              <a:t>Click to edit Master title style</a:t>
            </a:r>
            <a:endParaRPr lang="en-US" dirty="0"/>
          </a:p>
        </p:txBody>
      </p:sp>
      <p:sp>
        <p:nvSpPr>
          <p:cNvPr id="3" name="Content Placeholder 2"/>
          <p:cNvSpPr>
            <a:spLocks noGrp="1"/>
          </p:cNvSpPr>
          <p:nvPr>
            <p:ph idx="1"/>
          </p:nvPr>
        </p:nvSpPr>
        <p:spPr>
          <a:xfrm>
            <a:off x="2431081" y="1443835"/>
            <a:ext cx="9354927" cy="4275740"/>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6E9DEC-419B-4CC5-A080-3B06BD5A8291}" type="datetimeFigureOut">
              <a:rPr lang="en-US" smtClean="0"/>
              <a:pPr/>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0420007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smtClean="0"/>
              <a:pPr/>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3192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5A6C69-6797-4E8A-BF37-F2C3751466E9}" type="datetimeFigureOut">
              <a:rPr lang="en-US" smtClean="0"/>
              <a:pPr/>
              <a:t>11/30/2020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8515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1" y="1522475"/>
            <a:ext cx="11176407" cy="532180"/>
          </a:xfrm>
        </p:spPr>
        <p:txBody>
          <a:bodyPr>
            <a:normAutofit/>
          </a:bodyPr>
          <a:lstStyle>
            <a:lvl1pPr algn="l">
              <a:defRPr sz="3600">
                <a:solidFill>
                  <a:srgbClr val="FFFF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598620" y="2073697"/>
            <a:ext cx="5700987" cy="620719"/>
          </a:xfrm>
        </p:spPr>
        <p:txBody>
          <a:bodyPr anchor="b"/>
          <a:lstStyle>
            <a:lvl1pPr marL="0" indent="0">
              <a:buNone/>
              <a:defRPr sz="2400" b="1"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620" y="2684518"/>
            <a:ext cx="5700987" cy="3187763"/>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9606" y="2073697"/>
            <a:ext cx="5497380" cy="620719"/>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9606" y="2684518"/>
            <a:ext cx="5497380" cy="3187763"/>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smtClean="0"/>
              <a:pPr/>
              <a:t>11/30/2020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27007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99F462-093F-4566-844B-4C71F2739DA5}" type="datetimeFigureOut">
              <a:rPr lang="en-US" smtClean="0"/>
              <a:pPr/>
              <a:t>11/30/2020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9014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pPr/>
              <a:t>11/30/2020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55725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smtClean="0"/>
              <a:pPr/>
              <a:t>11/30/2020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7828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smtClean="0"/>
              <a:pPr/>
              <a:t>11/30/2020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65134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A3F48C-C7C6-4055-9F49-3777875E72AE}" type="datetimeFigureOut">
              <a:rPr lang="en-US" smtClean="0"/>
              <a:pPr/>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56074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78E61D-D431-422C-9764-11DAFE33AB63}" type="datetimeFigureOut">
              <a:rPr lang="en-US" smtClean="0"/>
              <a:pPr/>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33015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E9DEC-419B-4CC5-A080-3B06BD5A8291}" type="datetimeFigureOut">
              <a:rPr lang="en-US" smtClean="0"/>
              <a:pPr/>
              <a:t>11/30/2020</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683403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7392" y="1358234"/>
            <a:ext cx="11883283" cy="3192379"/>
          </a:xfrm>
        </p:spPr>
        <p:txBody>
          <a:bodyPr/>
          <a:lstStyle/>
          <a:p>
            <a:pPr algn="ctr"/>
            <a:r>
              <a:rPr lang="id-ID" b="1" dirty="0">
                <a:solidFill>
                  <a:schemeClr val="bg1"/>
                </a:solidFill>
                <a:effectLst>
                  <a:outerShdw blurRad="38100" dist="38100" dir="2700000" algn="tl">
                    <a:srgbClr val="000000">
                      <a:alpha val="43137"/>
                    </a:srgbClr>
                  </a:outerShdw>
                </a:effectLst>
                <a:latin typeface="Georgia"/>
              </a:rPr>
              <a:t>Sistem Pendukung Keputusan (Decision Support System)</a:t>
            </a:r>
            <a:br>
              <a:rPr lang="en-US" b="1" dirty="0">
                <a:solidFill>
                  <a:schemeClr val="bg1"/>
                </a:solidFill>
                <a:effectLst>
                  <a:outerShdw blurRad="38100" dist="38100" dir="2700000" algn="tl">
                    <a:srgbClr val="000000">
                      <a:alpha val="43137"/>
                    </a:srgbClr>
                  </a:outerShdw>
                </a:effectLst>
                <a:latin typeface="Georgia"/>
              </a:rPr>
            </a:br>
            <a:br>
              <a:rPr lang="en-US" b="1" dirty="0">
                <a:solidFill>
                  <a:schemeClr val="bg1"/>
                </a:solidFill>
                <a:effectLst>
                  <a:outerShdw blurRad="38100" dist="38100" dir="2700000" algn="tl">
                    <a:srgbClr val="000000">
                      <a:alpha val="43137"/>
                    </a:srgbClr>
                  </a:outerShdw>
                </a:effectLst>
                <a:latin typeface="Georgia"/>
              </a:rPr>
            </a:br>
            <a:r>
              <a:rPr lang="en-US" b="1" dirty="0">
                <a:solidFill>
                  <a:srgbClr val="FF0000"/>
                </a:solidFill>
                <a:effectLst>
                  <a:outerShdw blurRad="38100" dist="38100" dir="2700000" algn="tl">
                    <a:srgbClr val="000000">
                      <a:alpha val="43137"/>
                    </a:srgbClr>
                  </a:outerShdw>
                </a:effectLst>
                <a:latin typeface="Georgia"/>
              </a:rPr>
              <a:t>12</a:t>
            </a:r>
            <a:endParaRPr lang="en-US" dirty="0">
              <a:solidFill>
                <a:srgbClr val="FF0000"/>
              </a:solidFill>
            </a:endParaRPr>
          </a:p>
        </p:txBody>
      </p:sp>
      <p:sp>
        <p:nvSpPr>
          <p:cNvPr id="3" name="Subtitle 2"/>
          <p:cNvSpPr>
            <a:spLocks noGrp="1"/>
          </p:cNvSpPr>
          <p:nvPr>
            <p:ph type="subTitle" idx="1"/>
          </p:nvPr>
        </p:nvSpPr>
        <p:spPr>
          <a:xfrm>
            <a:off x="3811828" y="4932658"/>
            <a:ext cx="8144134" cy="1117687"/>
          </a:xfrm>
        </p:spPr>
        <p:txBody>
          <a:bodyPr/>
          <a:lstStyle/>
          <a:p>
            <a:pPr lvl="0"/>
            <a:r>
              <a:rPr lang="en-US" sz="4400" b="1" dirty="0">
                <a:solidFill>
                  <a:schemeClr val="bg1"/>
                </a:solidFill>
                <a:latin typeface="Tw Cen MT Condensed Extra Bold" panose="020B0803020202020204" pitchFamily="34" charset="0"/>
              </a:rPr>
              <a:t>LILIS NURHAYATI </a:t>
            </a:r>
            <a:r>
              <a:rPr lang="en-US" sz="4400" b="1" dirty="0" err="1">
                <a:solidFill>
                  <a:schemeClr val="bg1"/>
                </a:solidFill>
                <a:latin typeface="Tw Cen MT Condensed Extra Bold" panose="020B0803020202020204" pitchFamily="34" charset="0"/>
              </a:rPr>
              <a:t>S.Kom</a:t>
            </a:r>
            <a:r>
              <a:rPr lang="en-US" sz="4400" b="1" dirty="0">
                <a:solidFill>
                  <a:schemeClr val="bg1"/>
                </a:solidFill>
                <a:latin typeface="Tw Cen MT Condensed Extra Bold" panose="020B0803020202020204" pitchFamily="34" charset="0"/>
              </a:rPr>
              <a:t> , </a:t>
            </a:r>
            <a:r>
              <a:rPr lang="en-US" sz="4400" b="1" dirty="0" err="1">
                <a:solidFill>
                  <a:schemeClr val="bg1"/>
                </a:solidFill>
                <a:latin typeface="Tw Cen MT Condensed Extra Bold" panose="020B0803020202020204" pitchFamily="34" charset="0"/>
              </a:rPr>
              <a:t>M.Eng</a:t>
            </a:r>
            <a:endParaRPr lang="en-US" sz="4400" b="1" dirty="0">
              <a:solidFill>
                <a:schemeClr val="bg1"/>
              </a:solidFill>
              <a:latin typeface="Tw Cen MT Condensed Extra Bold" panose="020B0803020202020204" pitchFamily="34" charset="0"/>
            </a:endParaRPr>
          </a:p>
          <a:p>
            <a:endParaRPr lang="en-US" dirty="0"/>
          </a:p>
          <a:p>
            <a:endParaRPr lang="en-US" dirty="0"/>
          </a:p>
          <a:p>
            <a:endParaRPr lang="en-US" dirty="0"/>
          </a:p>
        </p:txBody>
      </p:sp>
    </p:spTree>
    <p:extLst>
      <p:ext uri="{BB962C8B-B14F-4D97-AF65-F5344CB8AC3E}">
        <p14:creationId xmlns:p14="http://schemas.microsoft.com/office/powerpoint/2010/main" val="866683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AHP (Analytic Hierarchy Process) </a:t>
            </a:r>
          </a:p>
        </p:txBody>
      </p:sp>
      <p:sp>
        <p:nvSpPr>
          <p:cNvPr id="3" name="Content Placeholder 2"/>
          <p:cNvSpPr>
            <a:spLocks noGrp="1"/>
          </p:cNvSpPr>
          <p:nvPr>
            <p:ph idx="1"/>
          </p:nvPr>
        </p:nvSpPr>
        <p:spPr>
          <a:xfrm>
            <a:off x="241910" y="2061300"/>
            <a:ext cx="11950090" cy="4796699"/>
          </a:xfrm>
        </p:spPr>
        <p:txBody>
          <a:bodyPr>
            <a:normAutofit/>
          </a:bodyPr>
          <a:lstStyle/>
          <a:p>
            <a:pPr algn="just"/>
            <a:r>
              <a:rPr lang="en-US" sz="3200" dirty="0" err="1"/>
              <a:t>Merupakan</a:t>
            </a:r>
            <a:r>
              <a:rPr lang="en-US" sz="3200" dirty="0"/>
              <a:t> </a:t>
            </a:r>
            <a:r>
              <a:rPr lang="en-US" sz="3200" dirty="0" err="1"/>
              <a:t>salah</a:t>
            </a:r>
            <a:r>
              <a:rPr lang="en-US" sz="3200" dirty="0"/>
              <a:t> </a:t>
            </a:r>
            <a:r>
              <a:rPr lang="en-US" sz="3200" dirty="0" err="1"/>
              <a:t>satu</a:t>
            </a:r>
            <a:r>
              <a:rPr lang="en-US" sz="3200" dirty="0"/>
              <a:t> </a:t>
            </a:r>
            <a:r>
              <a:rPr lang="en-US" sz="3200" dirty="0" err="1"/>
              <a:t>teknik</a:t>
            </a:r>
            <a:r>
              <a:rPr lang="en-US" sz="3200" dirty="0"/>
              <a:t> </a:t>
            </a:r>
            <a:r>
              <a:rPr lang="en-US" sz="3200" dirty="0" err="1"/>
              <a:t>dalam</a:t>
            </a:r>
            <a:r>
              <a:rPr lang="en-US" sz="3200" dirty="0"/>
              <a:t> </a:t>
            </a:r>
            <a:r>
              <a:rPr lang="en-US" sz="3200" dirty="0" err="1"/>
              <a:t>pengambilan</a:t>
            </a:r>
            <a:r>
              <a:rPr lang="en-US" sz="3200" dirty="0"/>
              <a:t> </a:t>
            </a:r>
            <a:r>
              <a:rPr lang="en-US" sz="3200" dirty="0" err="1"/>
              <a:t>keputusan</a:t>
            </a:r>
            <a:r>
              <a:rPr lang="en-US" sz="3200" dirty="0"/>
              <a:t>.  </a:t>
            </a:r>
          </a:p>
          <a:p>
            <a:pPr algn="just"/>
            <a:r>
              <a:rPr lang="en-US" sz="3200" dirty="0" err="1"/>
              <a:t>Dalam</a:t>
            </a:r>
            <a:r>
              <a:rPr lang="en-US" sz="3200" dirty="0"/>
              <a:t> </a:t>
            </a:r>
            <a:r>
              <a:rPr lang="en-US" sz="3200" dirty="0" err="1"/>
              <a:t>mengambil</a:t>
            </a:r>
            <a:r>
              <a:rPr lang="en-US" sz="3200" dirty="0"/>
              <a:t> </a:t>
            </a:r>
            <a:r>
              <a:rPr lang="en-US" sz="3200" dirty="0" err="1"/>
              <a:t>keputusan</a:t>
            </a:r>
            <a:r>
              <a:rPr lang="en-US" sz="3200" dirty="0"/>
              <a:t>, </a:t>
            </a:r>
            <a:r>
              <a:rPr lang="en-US" sz="3200" dirty="0" err="1"/>
              <a:t>kita</a:t>
            </a:r>
            <a:r>
              <a:rPr lang="en-US" sz="3200" dirty="0"/>
              <a:t> </a:t>
            </a:r>
            <a:r>
              <a:rPr lang="en-US" sz="3200" dirty="0" err="1"/>
              <a:t>mempunyai</a:t>
            </a:r>
            <a:r>
              <a:rPr lang="en-US" sz="3200" dirty="0"/>
              <a:t> </a:t>
            </a:r>
            <a:r>
              <a:rPr lang="en-US" sz="3200" dirty="0" err="1"/>
              <a:t>kriteria</a:t>
            </a:r>
            <a:r>
              <a:rPr lang="en-US" sz="3200" dirty="0"/>
              <a:t> </a:t>
            </a:r>
            <a:r>
              <a:rPr lang="en-US" sz="3200" dirty="0" err="1"/>
              <a:t>sebagai</a:t>
            </a:r>
            <a:r>
              <a:rPr lang="en-US" sz="3200" dirty="0"/>
              <a:t> </a:t>
            </a:r>
            <a:r>
              <a:rPr lang="en-US" sz="3200" dirty="0" err="1"/>
              <a:t>dasar</a:t>
            </a:r>
            <a:r>
              <a:rPr lang="en-US" sz="3200" dirty="0"/>
              <a:t> </a:t>
            </a:r>
            <a:r>
              <a:rPr lang="en-US" sz="3200" dirty="0" err="1"/>
              <a:t>penilaian</a:t>
            </a:r>
            <a:r>
              <a:rPr lang="en-US" sz="3200" dirty="0"/>
              <a:t>, </a:t>
            </a:r>
            <a:r>
              <a:rPr lang="en-US" sz="3200" dirty="0" err="1"/>
              <a:t>dan</a:t>
            </a:r>
            <a:r>
              <a:rPr lang="en-US" sz="3200" dirty="0"/>
              <a:t> </a:t>
            </a:r>
            <a:r>
              <a:rPr lang="en-US" sz="3200" dirty="0" err="1"/>
              <a:t>kita</a:t>
            </a:r>
            <a:r>
              <a:rPr lang="en-US" sz="3200" dirty="0"/>
              <a:t> </a:t>
            </a:r>
            <a:r>
              <a:rPr lang="en-US" sz="3200" dirty="0" err="1"/>
              <a:t>juga</a:t>
            </a:r>
            <a:r>
              <a:rPr lang="en-US" sz="3200" dirty="0"/>
              <a:t> </a:t>
            </a:r>
            <a:r>
              <a:rPr lang="en-US" sz="3200" dirty="0" err="1"/>
              <a:t>akan</a:t>
            </a:r>
            <a:r>
              <a:rPr lang="en-US" sz="3200" dirty="0"/>
              <a:t> </a:t>
            </a:r>
            <a:r>
              <a:rPr lang="en-US" sz="3200" dirty="0" err="1"/>
              <a:t>dihadapkan</a:t>
            </a:r>
            <a:r>
              <a:rPr lang="en-US" sz="3200" dirty="0"/>
              <a:t> </a:t>
            </a:r>
            <a:r>
              <a:rPr lang="en-US" sz="3200" dirty="0" err="1"/>
              <a:t>dengan</a:t>
            </a:r>
            <a:r>
              <a:rPr lang="en-US" sz="3200" dirty="0"/>
              <a:t> </a:t>
            </a:r>
            <a:r>
              <a:rPr lang="en-US" sz="3200" dirty="0" err="1"/>
              <a:t>lebih</a:t>
            </a:r>
            <a:r>
              <a:rPr lang="en-US" sz="3200" dirty="0"/>
              <a:t> </a:t>
            </a:r>
            <a:r>
              <a:rPr lang="en-US" sz="3200" dirty="0" err="1"/>
              <a:t>dari</a:t>
            </a:r>
            <a:r>
              <a:rPr lang="en-US" sz="3200" dirty="0"/>
              <a:t> </a:t>
            </a:r>
            <a:r>
              <a:rPr lang="en-US" sz="3200" dirty="0" err="1"/>
              <a:t>satu</a:t>
            </a:r>
            <a:r>
              <a:rPr lang="en-US" sz="3200" dirty="0"/>
              <a:t> alternative </a:t>
            </a:r>
            <a:r>
              <a:rPr lang="en-US" sz="3200" dirty="0" err="1"/>
              <a:t>pilihan</a:t>
            </a:r>
            <a:r>
              <a:rPr lang="en-US" sz="3200" dirty="0"/>
              <a:t>.  </a:t>
            </a:r>
          </a:p>
          <a:p>
            <a:pPr algn="just"/>
            <a:r>
              <a:rPr lang="en-US" sz="3200" dirty="0" err="1"/>
              <a:t>Jika</a:t>
            </a:r>
            <a:r>
              <a:rPr lang="en-US" sz="3200" dirty="0"/>
              <a:t> alternative </a:t>
            </a:r>
            <a:r>
              <a:rPr lang="en-US" sz="3200" dirty="0" err="1"/>
              <a:t>pilihan</a:t>
            </a:r>
            <a:r>
              <a:rPr lang="en-US" sz="3200" dirty="0"/>
              <a:t> </a:t>
            </a:r>
            <a:r>
              <a:rPr lang="en-US" sz="3200" dirty="0" err="1"/>
              <a:t>tersebut</a:t>
            </a:r>
            <a:r>
              <a:rPr lang="en-US" sz="3200" dirty="0"/>
              <a:t> </a:t>
            </a:r>
            <a:r>
              <a:rPr lang="en-US" sz="3200" dirty="0" err="1"/>
              <a:t>hanya</a:t>
            </a:r>
            <a:r>
              <a:rPr lang="en-US" sz="3200" dirty="0"/>
              <a:t> </a:t>
            </a:r>
            <a:r>
              <a:rPr lang="en-US" sz="3200" dirty="0" err="1"/>
              <a:t>ada</a:t>
            </a:r>
            <a:r>
              <a:rPr lang="en-US" sz="3200" dirty="0"/>
              <a:t> </a:t>
            </a:r>
            <a:r>
              <a:rPr lang="en-US" sz="3200" dirty="0" err="1"/>
              <a:t>dua</a:t>
            </a:r>
            <a:r>
              <a:rPr lang="en-US" sz="3200" dirty="0"/>
              <a:t>, </a:t>
            </a:r>
            <a:r>
              <a:rPr lang="en-US" sz="3200" dirty="0" err="1"/>
              <a:t>mungkin</a:t>
            </a:r>
            <a:r>
              <a:rPr lang="en-US" sz="3200" dirty="0"/>
              <a:t> </a:t>
            </a:r>
            <a:r>
              <a:rPr lang="en-US" sz="3200" dirty="0" err="1"/>
              <a:t>masih</a:t>
            </a:r>
            <a:r>
              <a:rPr lang="en-US" sz="3200" dirty="0"/>
              <a:t> </a:t>
            </a:r>
            <a:r>
              <a:rPr lang="en-US" sz="3200" dirty="0" err="1"/>
              <a:t>mudah</a:t>
            </a:r>
            <a:r>
              <a:rPr lang="en-US" sz="3200" dirty="0"/>
              <a:t> </a:t>
            </a:r>
            <a:r>
              <a:rPr lang="en-US" sz="3200" dirty="0" err="1"/>
              <a:t>buat</a:t>
            </a:r>
            <a:r>
              <a:rPr lang="en-US" sz="3200" dirty="0"/>
              <a:t> </a:t>
            </a:r>
            <a:r>
              <a:rPr lang="en-US" sz="3200" dirty="0" err="1"/>
              <a:t>kita</a:t>
            </a:r>
            <a:r>
              <a:rPr lang="en-US" sz="3200" dirty="0"/>
              <a:t> </a:t>
            </a:r>
            <a:r>
              <a:rPr lang="en-US" sz="3200" dirty="0" err="1"/>
              <a:t>untuk</a:t>
            </a:r>
            <a:r>
              <a:rPr lang="en-US" sz="3200" dirty="0"/>
              <a:t> </a:t>
            </a:r>
            <a:r>
              <a:rPr lang="en-US" sz="3200" dirty="0" err="1"/>
              <a:t>memilih</a:t>
            </a:r>
            <a:r>
              <a:rPr lang="en-US" sz="3200" dirty="0"/>
              <a:t>, </a:t>
            </a:r>
            <a:r>
              <a:rPr lang="en-US" sz="3200" dirty="0" err="1"/>
              <a:t>akan</a:t>
            </a:r>
            <a:r>
              <a:rPr lang="en-US" sz="3200" dirty="0"/>
              <a:t> </a:t>
            </a:r>
            <a:r>
              <a:rPr lang="en-US" sz="3200" dirty="0" err="1"/>
              <a:t>tetapi</a:t>
            </a:r>
            <a:r>
              <a:rPr lang="en-US" sz="3200" dirty="0"/>
              <a:t> </a:t>
            </a:r>
            <a:r>
              <a:rPr lang="en-US" sz="3200" dirty="0" err="1"/>
              <a:t>jika</a:t>
            </a:r>
            <a:r>
              <a:rPr lang="en-US" sz="3200" dirty="0"/>
              <a:t> alternative </a:t>
            </a:r>
            <a:r>
              <a:rPr lang="en-US" sz="3200" dirty="0" err="1"/>
              <a:t>pilihan</a:t>
            </a:r>
            <a:r>
              <a:rPr lang="en-US" sz="3200" dirty="0"/>
              <a:t> </a:t>
            </a:r>
            <a:r>
              <a:rPr lang="en-US" sz="3200" dirty="0" err="1"/>
              <a:t>tersebut</a:t>
            </a:r>
            <a:r>
              <a:rPr lang="en-US" sz="3200" dirty="0"/>
              <a:t> </a:t>
            </a:r>
            <a:r>
              <a:rPr lang="en-US" sz="3200" dirty="0" err="1"/>
              <a:t>banyak</a:t>
            </a:r>
            <a:r>
              <a:rPr lang="en-US" sz="3200" dirty="0"/>
              <a:t>, </a:t>
            </a:r>
            <a:r>
              <a:rPr lang="en-US" sz="3200" dirty="0" err="1"/>
              <a:t>maka</a:t>
            </a:r>
            <a:r>
              <a:rPr lang="en-US" sz="3200" dirty="0"/>
              <a:t> </a:t>
            </a:r>
            <a:r>
              <a:rPr lang="en-US" sz="3200" dirty="0" err="1"/>
              <a:t>cukup</a:t>
            </a:r>
            <a:r>
              <a:rPr lang="en-US" sz="3200" dirty="0"/>
              <a:t> </a:t>
            </a:r>
            <a:r>
              <a:rPr lang="en-US" sz="3200" dirty="0" err="1"/>
              <a:t>sulit</a:t>
            </a:r>
            <a:r>
              <a:rPr lang="en-US" sz="3200" dirty="0"/>
              <a:t> </a:t>
            </a:r>
            <a:r>
              <a:rPr lang="en-US" sz="3200" dirty="0" err="1"/>
              <a:t>bagi</a:t>
            </a:r>
            <a:r>
              <a:rPr lang="en-US" sz="3200" dirty="0"/>
              <a:t> </a:t>
            </a:r>
            <a:r>
              <a:rPr lang="en-US" sz="3200" dirty="0" err="1"/>
              <a:t>kita</a:t>
            </a:r>
            <a:r>
              <a:rPr lang="en-US" sz="3200" dirty="0"/>
              <a:t> </a:t>
            </a:r>
            <a:r>
              <a:rPr lang="en-US" sz="3200" dirty="0" err="1"/>
              <a:t>untuk</a:t>
            </a:r>
            <a:r>
              <a:rPr lang="en-US" sz="3200" dirty="0"/>
              <a:t> </a:t>
            </a:r>
            <a:r>
              <a:rPr lang="en-US" sz="3200" dirty="0" err="1"/>
              <a:t>memutuskannya</a:t>
            </a:r>
            <a:r>
              <a:rPr lang="en-US" sz="3200" dirty="0"/>
              <a:t>.  </a:t>
            </a:r>
          </a:p>
          <a:p>
            <a:pPr algn="just"/>
            <a:r>
              <a:rPr lang="en-US" sz="3200" dirty="0"/>
              <a:t>AHP </a:t>
            </a:r>
            <a:r>
              <a:rPr lang="en-US" sz="3200" dirty="0" err="1"/>
              <a:t>merupakan</a:t>
            </a:r>
            <a:r>
              <a:rPr lang="en-US" sz="3200" dirty="0"/>
              <a:t> </a:t>
            </a:r>
            <a:r>
              <a:rPr lang="en-US" sz="3200" dirty="0" err="1"/>
              <a:t>teknik</a:t>
            </a:r>
            <a:r>
              <a:rPr lang="en-US" sz="3200" dirty="0"/>
              <a:t> yang </a:t>
            </a:r>
            <a:r>
              <a:rPr lang="en-US" sz="3200" dirty="0" err="1"/>
              <a:t>dikembangkan</a:t>
            </a:r>
            <a:r>
              <a:rPr lang="en-US" sz="3200" dirty="0"/>
              <a:t> </a:t>
            </a:r>
            <a:r>
              <a:rPr lang="en-US" sz="3200" dirty="0" err="1"/>
              <a:t>untuk</a:t>
            </a:r>
            <a:r>
              <a:rPr lang="en-US" sz="3200" dirty="0"/>
              <a:t> </a:t>
            </a:r>
            <a:r>
              <a:rPr lang="en-US" sz="3200" dirty="0" err="1"/>
              <a:t>membantu</a:t>
            </a:r>
            <a:r>
              <a:rPr lang="en-US" sz="3200" dirty="0"/>
              <a:t> </a:t>
            </a:r>
            <a:r>
              <a:rPr lang="en-US" sz="3200" dirty="0" err="1"/>
              <a:t>mengatasi</a:t>
            </a:r>
            <a:r>
              <a:rPr lang="en-US" sz="3200" dirty="0"/>
              <a:t> </a:t>
            </a:r>
            <a:r>
              <a:rPr lang="en-US" sz="3200" dirty="0" err="1"/>
              <a:t>kesulitan</a:t>
            </a:r>
            <a:r>
              <a:rPr lang="en-US" sz="3200" dirty="0"/>
              <a:t> </a:t>
            </a:r>
            <a:r>
              <a:rPr lang="en-US" sz="3200" dirty="0" err="1"/>
              <a:t>ini</a:t>
            </a:r>
            <a:r>
              <a:rPr lang="en-US" sz="3200" dirty="0"/>
              <a:t>.</a:t>
            </a:r>
          </a:p>
          <a:p>
            <a:pPr algn="just"/>
            <a:endParaRPr lang="en-US" sz="3200" dirty="0"/>
          </a:p>
        </p:txBody>
      </p:sp>
    </p:spTree>
    <p:extLst>
      <p:ext uri="{BB962C8B-B14F-4D97-AF65-F5344CB8AC3E}">
        <p14:creationId xmlns:p14="http://schemas.microsoft.com/office/powerpoint/2010/main" val="163475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75584"/>
            <a:ext cx="9613861" cy="1080938"/>
          </a:xfrm>
        </p:spPr>
        <p:txBody>
          <a:bodyPr/>
          <a:lstStyle/>
          <a:p>
            <a:r>
              <a:rPr lang="en-US" dirty="0">
                <a:solidFill>
                  <a:schemeClr val="tx1"/>
                </a:solidFill>
              </a:rPr>
              <a:t>Analytic Hierarchy Process (AHP)</a:t>
            </a:r>
          </a:p>
        </p:txBody>
      </p:sp>
      <p:sp>
        <p:nvSpPr>
          <p:cNvPr id="3" name="Content Placeholder 2"/>
          <p:cNvSpPr>
            <a:spLocks noGrp="1"/>
          </p:cNvSpPr>
          <p:nvPr>
            <p:ph idx="1"/>
          </p:nvPr>
        </p:nvSpPr>
        <p:spPr>
          <a:xfrm>
            <a:off x="0" y="1622889"/>
            <a:ext cx="11912252" cy="5078535"/>
          </a:xfrm>
        </p:spPr>
        <p:txBody>
          <a:bodyPr>
            <a:noAutofit/>
          </a:bodyPr>
          <a:lstStyle/>
          <a:p>
            <a:pPr algn="just">
              <a:defRPr/>
            </a:pPr>
            <a:r>
              <a:rPr lang="en-US" sz="2000" dirty="0" err="1">
                <a:ea typeface="ＭＳ Ｐゴシック" pitchFamily="34" charset="-128"/>
              </a:rPr>
              <a:t>Prinsip</a:t>
            </a:r>
            <a:r>
              <a:rPr lang="en-US" sz="2000" dirty="0">
                <a:ea typeface="ＭＳ Ｐゴシック" pitchFamily="34" charset="-128"/>
              </a:rPr>
              <a:t> </a:t>
            </a:r>
            <a:r>
              <a:rPr lang="en-US" sz="2000" dirty="0" err="1">
                <a:ea typeface="ＭＳ Ｐゴシック" pitchFamily="34" charset="-128"/>
              </a:rPr>
              <a:t>Dasar</a:t>
            </a:r>
            <a:r>
              <a:rPr lang="en-US" sz="2000" dirty="0">
                <a:ea typeface="ＭＳ Ｐゴシック" pitchFamily="34" charset="-128"/>
              </a:rPr>
              <a:t> AHP (Prof. Thomas L. </a:t>
            </a:r>
            <a:r>
              <a:rPr lang="en-US" sz="2000" dirty="0" err="1">
                <a:ea typeface="ＭＳ Ｐゴシック" pitchFamily="34" charset="-128"/>
              </a:rPr>
              <a:t>Saaty</a:t>
            </a:r>
            <a:r>
              <a:rPr lang="en-US" sz="2000" dirty="0">
                <a:ea typeface="ＭＳ Ｐゴシック" pitchFamily="34" charset="-128"/>
              </a:rPr>
              <a:t>, 1980) :</a:t>
            </a:r>
          </a:p>
          <a:p>
            <a:pPr marL="857250" lvl="1" indent="-457200">
              <a:buFontTx/>
              <a:buAutoNum type="arabicPeriod"/>
              <a:defRPr/>
            </a:pPr>
            <a:r>
              <a:rPr lang="en-US" sz="2800" b="1" dirty="0">
                <a:solidFill>
                  <a:srgbClr val="FFFF00"/>
                </a:solidFill>
              </a:rPr>
              <a:t>Problem Decomposition (</a:t>
            </a:r>
            <a:r>
              <a:rPr lang="en-US" sz="2800" b="1" dirty="0" err="1">
                <a:solidFill>
                  <a:srgbClr val="FFFF00"/>
                </a:solidFill>
              </a:rPr>
              <a:t>Penyusunan</a:t>
            </a:r>
            <a:r>
              <a:rPr lang="en-US" sz="2800" b="1" dirty="0">
                <a:solidFill>
                  <a:srgbClr val="FFFF00"/>
                </a:solidFill>
              </a:rPr>
              <a:t> </a:t>
            </a:r>
            <a:r>
              <a:rPr lang="en-US" sz="2800" b="1" dirty="0" err="1">
                <a:solidFill>
                  <a:srgbClr val="FFFF00"/>
                </a:solidFill>
              </a:rPr>
              <a:t>Hierarki</a:t>
            </a:r>
            <a:r>
              <a:rPr lang="en-US" sz="2800" b="1" dirty="0">
                <a:solidFill>
                  <a:srgbClr val="FFFF00"/>
                </a:solidFill>
              </a:rPr>
              <a:t> </a:t>
            </a:r>
            <a:r>
              <a:rPr lang="en-US" sz="2800" b="1" dirty="0" err="1">
                <a:solidFill>
                  <a:srgbClr val="FFFF00"/>
                </a:solidFill>
              </a:rPr>
              <a:t>Masalah</a:t>
            </a:r>
            <a:r>
              <a:rPr lang="en-US" sz="2800" b="1" dirty="0">
                <a:solidFill>
                  <a:srgbClr val="FFFF00"/>
                </a:solidFill>
              </a:rPr>
              <a:t>) :</a:t>
            </a:r>
          </a:p>
          <a:p>
            <a:pPr marL="1257300" lvl="2" indent="-457200" algn="just">
              <a:buFont typeface="Courier New" pitchFamily="49" charset="0"/>
              <a:buChar char="o"/>
              <a:defRPr/>
            </a:pPr>
            <a:r>
              <a:rPr lang="en-US" sz="2800" b="1" dirty="0" err="1"/>
              <a:t>Identifikasi</a:t>
            </a:r>
            <a:r>
              <a:rPr lang="en-US" sz="2800" dirty="0"/>
              <a:t> </a:t>
            </a:r>
            <a:r>
              <a:rPr lang="en-US" sz="2800" b="1" dirty="0" err="1"/>
              <a:t>tujuan</a:t>
            </a:r>
            <a:r>
              <a:rPr lang="en-US" sz="2800" dirty="0"/>
              <a:t> </a:t>
            </a:r>
            <a:r>
              <a:rPr lang="en-US" sz="2800" dirty="0" err="1"/>
              <a:t>keseluruhan</a:t>
            </a:r>
            <a:r>
              <a:rPr lang="en-US" sz="2800" dirty="0"/>
              <a:t> </a:t>
            </a:r>
            <a:r>
              <a:rPr lang="en-US" sz="2800" dirty="0" err="1"/>
              <a:t>dan</a:t>
            </a:r>
            <a:r>
              <a:rPr lang="en-US" sz="2800" dirty="0"/>
              <a:t> </a:t>
            </a:r>
            <a:r>
              <a:rPr lang="en-US" sz="2800" b="1" dirty="0"/>
              <a:t>sub-</a:t>
            </a:r>
            <a:r>
              <a:rPr lang="en-US" sz="2800" b="1" dirty="0" err="1"/>
              <a:t>tujuan</a:t>
            </a:r>
            <a:r>
              <a:rPr lang="en-US" sz="2800" dirty="0"/>
              <a:t> yang </a:t>
            </a:r>
            <a:r>
              <a:rPr lang="en-US" sz="2800" dirty="0" err="1"/>
              <a:t>ada</a:t>
            </a:r>
            <a:r>
              <a:rPr lang="en-US" sz="2800" dirty="0"/>
              <a:t>.</a:t>
            </a:r>
          </a:p>
          <a:p>
            <a:pPr marL="1257300" lvl="2" indent="-457200" algn="just">
              <a:buFont typeface="Courier New" pitchFamily="49" charset="0"/>
              <a:buChar char="o"/>
              <a:defRPr/>
            </a:pPr>
            <a:r>
              <a:rPr lang="en-US" sz="2800" b="1" dirty="0" err="1"/>
              <a:t>Mencari</a:t>
            </a:r>
            <a:r>
              <a:rPr lang="en-US" sz="2800" dirty="0"/>
              <a:t> </a:t>
            </a:r>
            <a:r>
              <a:rPr lang="en-US" sz="2800" b="1" dirty="0" err="1"/>
              <a:t>kriteria</a:t>
            </a:r>
            <a:r>
              <a:rPr lang="en-US" sz="2800" dirty="0"/>
              <a:t> </a:t>
            </a:r>
            <a:r>
              <a:rPr lang="en-US" sz="2800" dirty="0" err="1"/>
              <a:t>untuk</a:t>
            </a:r>
            <a:r>
              <a:rPr lang="en-US" sz="2800" dirty="0"/>
              <a:t> </a:t>
            </a:r>
            <a:r>
              <a:rPr lang="en-US" sz="2800" dirty="0" err="1"/>
              <a:t>memperoleh</a:t>
            </a:r>
            <a:r>
              <a:rPr lang="en-US" sz="2800" dirty="0"/>
              <a:t> sub-</a:t>
            </a:r>
            <a:r>
              <a:rPr lang="en-US" sz="2800" dirty="0" err="1"/>
              <a:t>tujuan</a:t>
            </a:r>
            <a:r>
              <a:rPr lang="en-US" sz="2800" dirty="0"/>
              <a:t> </a:t>
            </a:r>
            <a:r>
              <a:rPr lang="en-US" sz="2800" dirty="0" err="1"/>
              <a:t>dari</a:t>
            </a:r>
            <a:r>
              <a:rPr lang="en-US" sz="2800" dirty="0"/>
              <a:t> </a:t>
            </a:r>
            <a:r>
              <a:rPr lang="en-US" sz="2800" dirty="0" err="1"/>
              <a:t>tujuan</a:t>
            </a:r>
            <a:r>
              <a:rPr lang="en-US" sz="2800" dirty="0"/>
              <a:t> </a:t>
            </a:r>
            <a:r>
              <a:rPr lang="en-US" sz="2800" dirty="0" err="1"/>
              <a:t>keseluruhan</a:t>
            </a:r>
            <a:r>
              <a:rPr lang="en-US" sz="2800" dirty="0"/>
              <a:t>.</a:t>
            </a:r>
          </a:p>
          <a:p>
            <a:pPr marL="1257300" lvl="2" indent="-457200" algn="just">
              <a:buFont typeface="Courier New" pitchFamily="49" charset="0"/>
              <a:buChar char="o"/>
              <a:defRPr/>
            </a:pPr>
            <a:r>
              <a:rPr lang="en-US" sz="2800" b="1" dirty="0" err="1"/>
              <a:t>Menyusun</a:t>
            </a:r>
            <a:r>
              <a:rPr lang="en-US" sz="2800" b="1" dirty="0"/>
              <a:t> sub-</a:t>
            </a:r>
            <a:r>
              <a:rPr lang="en-US" sz="2800" b="1" dirty="0" err="1"/>
              <a:t>kriteria</a:t>
            </a:r>
            <a:r>
              <a:rPr lang="en-US" sz="2800" b="1" dirty="0"/>
              <a:t> </a:t>
            </a:r>
            <a:r>
              <a:rPr lang="en-US" sz="2800" dirty="0" err="1"/>
              <a:t>dari</a:t>
            </a:r>
            <a:r>
              <a:rPr lang="en-US" sz="2800" dirty="0"/>
              <a:t> </a:t>
            </a:r>
            <a:r>
              <a:rPr lang="en-US" sz="2800" dirty="0" err="1"/>
              <a:t>masing-masing</a:t>
            </a:r>
            <a:r>
              <a:rPr lang="en-US" sz="2800" dirty="0"/>
              <a:t> </a:t>
            </a:r>
            <a:r>
              <a:rPr lang="en-US" sz="2800" dirty="0" err="1"/>
              <a:t>kriteria</a:t>
            </a:r>
            <a:r>
              <a:rPr lang="en-US" sz="2800" dirty="0"/>
              <a:t>, </a:t>
            </a:r>
            <a:r>
              <a:rPr lang="en-US" sz="2800" dirty="0" err="1"/>
              <a:t>dimana</a:t>
            </a:r>
            <a:r>
              <a:rPr lang="en-US" sz="2800" dirty="0"/>
              <a:t> </a:t>
            </a:r>
            <a:r>
              <a:rPr lang="en-US" sz="2800" dirty="0" err="1"/>
              <a:t>setiap</a:t>
            </a:r>
            <a:r>
              <a:rPr lang="en-US" sz="2800" dirty="0"/>
              <a:t> </a:t>
            </a:r>
            <a:r>
              <a:rPr lang="en-US" sz="2800" dirty="0" err="1"/>
              <a:t>kriteria</a:t>
            </a:r>
            <a:r>
              <a:rPr lang="en-US" sz="2800" dirty="0"/>
              <a:t> </a:t>
            </a:r>
            <a:r>
              <a:rPr lang="en-US" sz="2800" dirty="0" err="1"/>
              <a:t>dan</a:t>
            </a:r>
            <a:r>
              <a:rPr lang="en-US" sz="2800" dirty="0"/>
              <a:t> sub-</a:t>
            </a:r>
            <a:r>
              <a:rPr lang="en-US" sz="2800" dirty="0" err="1"/>
              <a:t>kriteria</a:t>
            </a:r>
            <a:r>
              <a:rPr lang="en-US" sz="2800" dirty="0"/>
              <a:t> </a:t>
            </a:r>
            <a:r>
              <a:rPr lang="en-US" sz="2800" dirty="0" err="1"/>
              <a:t>harus</a:t>
            </a:r>
            <a:r>
              <a:rPr lang="en-US" sz="2800" dirty="0"/>
              <a:t> </a:t>
            </a:r>
            <a:r>
              <a:rPr lang="en-US" sz="2800" dirty="0" err="1"/>
              <a:t>spesifik</a:t>
            </a:r>
            <a:r>
              <a:rPr lang="en-US" sz="2800" dirty="0"/>
              <a:t> </a:t>
            </a:r>
            <a:r>
              <a:rPr lang="en-US" sz="2800" dirty="0" err="1"/>
              <a:t>dan</a:t>
            </a:r>
            <a:r>
              <a:rPr lang="en-US" sz="2800" dirty="0"/>
              <a:t> </a:t>
            </a:r>
            <a:r>
              <a:rPr lang="en-US" sz="2800" dirty="0" err="1"/>
              <a:t>menunjukkan</a:t>
            </a:r>
            <a:r>
              <a:rPr lang="en-US" sz="2800" dirty="0"/>
              <a:t> </a:t>
            </a:r>
            <a:r>
              <a:rPr lang="en-US" sz="2800" dirty="0" err="1"/>
              <a:t>tingkat</a:t>
            </a:r>
            <a:r>
              <a:rPr lang="en-US" sz="2800" dirty="0"/>
              <a:t> </a:t>
            </a:r>
            <a:r>
              <a:rPr lang="en-US" sz="2800" dirty="0" err="1"/>
              <a:t>nilai</a:t>
            </a:r>
            <a:r>
              <a:rPr lang="en-US" sz="2800" dirty="0"/>
              <a:t> </a:t>
            </a:r>
            <a:r>
              <a:rPr lang="en-US" sz="2800" dirty="0" err="1"/>
              <a:t>dari</a:t>
            </a:r>
            <a:r>
              <a:rPr lang="en-US" sz="2800" dirty="0"/>
              <a:t> parameter.</a:t>
            </a:r>
          </a:p>
          <a:p>
            <a:pPr marL="1257300" lvl="2" indent="-457200" algn="just">
              <a:buFont typeface="Courier New" pitchFamily="49" charset="0"/>
              <a:buChar char="o"/>
              <a:defRPr/>
            </a:pPr>
            <a:r>
              <a:rPr lang="en-US" sz="2800" b="1" dirty="0" err="1"/>
              <a:t>Menentukan</a:t>
            </a:r>
            <a:r>
              <a:rPr lang="en-US" sz="2800" dirty="0"/>
              <a:t> </a:t>
            </a:r>
            <a:r>
              <a:rPr lang="en-US" sz="2800" dirty="0" err="1"/>
              <a:t>siapa</a:t>
            </a:r>
            <a:r>
              <a:rPr lang="en-US" sz="2800" dirty="0"/>
              <a:t> </a:t>
            </a:r>
            <a:r>
              <a:rPr lang="en-US" sz="2800" dirty="0" err="1"/>
              <a:t>saja</a:t>
            </a:r>
            <a:r>
              <a:rPr lang="en-US" sz="2800" dirty="0"/>
              <a:t> </a:t>
            </a:r>
            <a:r>
              <a:rPr lang="en-US" sz="2800" b="1" dirty="0" err="1"/>
              <a:t>pelaku</a:t>
            </a:r>
            <a:r>
              <a:rPr lang="en-US" sz="2800" dirty="0"/>
              <a:t> </a:t>
            </a:r>
            <a:r>
              <a:rPr lang="en-US" sz="2800" b="1" dirty="0"/>
              <a:t>yang </a:t>
            </a:r>
            <a:r>
              <a:rPr lang="en-US" sz="2800" b="1" dirty="0" err="1"/>
              <a:t>terlibat</a:t>
            </a:r>
            <a:r>
              <a:rPr lang="en-US" sz="2800" b="1" dirty="0"/>
              <a:t> </a:t>
            </a:r>
            <a:r>
              <a:rPr lang="en-US" sz="2800" b="1" dirty="0" err="1"/>
              <a:t>dalam</a:t>
            </a:r>
            <a:r>
              <a:rPr lang="en-US" sz="2800" b="1" dirty="0"/>
              <a:t> </a:t>
            </a:r>
            <a:r>
              <a:rPr lang="en-US" sz="2800" b="1" dirty="0" err="1"/>
              <a:t>sistem</a:t>
            </a:r>
            <a:r>
              <a:rPr lang="en-US" sz="2800" b="1" dirty="0"/>
              <a:t> </a:t>
            </a:r>
            <a:r>
              <a:rPr lang="en-US" sz="2800" dirty="0" err="1"/>
              <a:t>dan</a:t>
            </a:r>
            <a:r>
              <a:rPr lang="en-US" sz="2800" dirty="0"/>
              <a:t> </a:t>
            </a:r>
            <a:r>
              <a:rPr lang="en-US" sz="2800" dirty="0" err="1"/>
              <a:t>kebijakan</a:t>
            </a:r>
            <a:r>
              <a:rPr lang="en-US" sz="2800" dirty="0"/>
              <a:t> </a:t>
            </a:r>
            <a:r>
              <a:rPr lang="en-US" sz="2800" dirty="0" err="1"/>
              <a:t>dari</a:t>
            </a:r>
            <a:r>
              <a:rPr lang="en-US" sz="2800" dirty="0"/>
              <a:t> </a:t>
            </a:r>
            <a:r>
              <a:rPr lang="en-US" sz="2800" dirty="0" err="1"/>
              <a:t>masing-masing</a:t>
            </a:r>
            <a:r>
              <a:rPr lang="en-US" sz="2800" dirty="0"/>
              <a:t> </a:t>
            </a:r>
            <a:r>
              <a:rPr lang="en-US" sz="2800" dirty="0" err="1"/>
              <a:t>pelaku</a:t>
            </a:r>
            <a:r>
              <a:rPr lang="en-US" sz="2800" dirty="0"/>
              <a:t>.</a:t>
            </a:r>
          </a:p>
          <a:p>
            <a:pPr marL="1257300" lvl="2" indent="-457200" algn="just">
              <a:buFont typeface="Courier New" pitchFamily="49" charset="0"/>
              <a:buChar char="o"/>
              <a:defRPr/>
            </a:pPr>
            <a:r>
              <a:rPr lang="en-US" sz="2800" b="1" dirty="0" err="1"/>
              <a:t>Menentukan</a:t>
            </a:r>
            <a:r>
              <a:rPr lang="en-US" sz="2800" b="1" dirty="0"/>
              <a:t> </a:t>
            </a:r>
            <a:r>
              <a:rPr lang="en-US" sz="2800" b="1" dirty="0" err="1"/>
              <a:t>alternatif</a:t>
            </a:r>
            <a:r>
              <a:rPr lang="en-US" sz="2800" b="1" dirty="0"/>
              <a:t> </a:t>
            </a:r>
            <a:r>
              <a:rPr lang="en-US" sz="2800" dirty="0" err="1"/>
              <a:t>sebagai</a:t>
            </a:r>
            <a:r>
              <a:rPr lang="en-US" sz="2800" dirty="0"/>
              <a:t> output </a:t>
            </a:r>
            <a:r>
              <a:rPr lang="en-US" sz="2800" dirty="0" err="1"/>
              <a:t>tujuan</a:t>
            </a:r>
            <a:r>
              <a:rPr lang="en-US" sz="2800" dirty="0"/>
              <a:t> yang </a:t>
            </a:r>
            <a:r>
              <a:rPr lang="en-US" sz="2800" dirty="0" err="1"/>
              <a:t>akan</a:t>
            </a:r>
            <a:r>
              <a:rPr lang="en-US" sz="2800" dirty="0"/>
              <a:t> </a:t>
            </a:r>
            <a:r>
              <a:rPr lang="en-US" sz="2800" dirty="0" err="1"/>
              <a:t>ditentukan</a:t>
            </a:r>
            <a:r>
              <a:rPr lang="en-US" sz="2800" dirty="0"/>
              <a:t> </a:t>
            </a:r>
            <a:r>
              <a:rPr lang="en-US" sz="2800" dirty="0" err="1"/>
              <a:t>prioritasnya</a:t>
            </a:r>
            <a:r>
              <a:rPr lang="en-US" sz="2800" dirty="0"/>
              <a:t>.</a:t>
            </a:r>
          </a:p>
          <a:p>
            <a:endParaRPr lang="en-US" sz="2800" dirty="0"/>
          </a:p>
        </p:txBody>
      </p:sp>
    </p:spTree>
    <p:extLst>
      <p:ext uri="{BB962C8B-B14F-4D97-AF65-F5344CB8AC3E}">
        <p14:creationId xmlns:p14="http://schemas.microsoft.com/office/powerpoint/2010/main" val="3205954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449" y="2123930"/>
            <a:ext cx="12037772" cy="4734069"/>
          </a:xfrm>
        </p:spPr>
        <p:txBody>
          <a:bodyPr>
            <a:normAutofit lnSpcReduction="10000"/>
          </a:bodyPr>
          <a:lstStyle/>
          <a:p>
            <a:pPr marL="400050" lvl="1" indent="0">
              <a:buNone/>
              <a:defRPr/>
            </a:pPr>
            <a:r>
              <a:rPr lang="en-US" sz="3200" b="1" dirty="0">
                <a:solidFill>
                  <a:srgbClr val="FFFF00"/>
                </a:solidFill>
              </a:rPr>
              <a:t>2. Comparative </a:t>
            </a:r>
            <a:r>
              <a:rPr lang="en-US" sz="3200" b="1" dirty="0" err="1">
                <a:solidFill>
                  <a:srgbClr val="FFFF00"/>
                </a:solidFill>
              </a:rPr>
              <a:t>Judgement</a:t>
            </a:r>
            <a:r>
              <a:rPr lang="en-US" sz="3200" b="1" dirty="0">
                <a:solidFill>
                  <a:srgbClr val="FFFF00"/>
                </a:solidFill>
              </a:rPr>
              <a:t> (</a:t>
            </a:r>
            <a:r>
              <a:rPr lang="en-US" sz="3200" b="1" dirty="0" err="1">
                <a:solidFill>
                  <a:srgbClr val="FFFF00"/>
                </a:solidFill>
              </a:rPr>
              <a:t>Penilaian</a:t>
            </a:r>
            <a:r>
              <a:rPr lang="en-US" sz="3200" b="1" dirty="0">
                <a:solidFill>
                  <a:srgbClr val="FFFF00"/>
                </a:solidFill>
              </a:rPr>
              <a:t> </a:t>
            </a:r>
            <a:r>
              <a:rPr lang="en-US" sz="3200" b="1" dirty="0" err="1">
                <a:solidFill>
                  <a:srgbClr val="FFFF00"/>
                </a:solidFill>
              </a:rPr>
              <a:t>Perbandingan</a:t>
            </a:r>
            <a:r>
              <a:rPr lang="en-US" sz="3200" b="1" dirty="0">
                <a:solidFill>
                  <a:srgbClr val="FFFF00"/>
                </a:solidFill>
              </a:rPr>
              <a:t> </a:t>
            </a:r>
            <a:r>
              <a:rPr lang="en-US" sz="3200" b="1" dirty="0" err="1">
                <a:solidFill>
                  <a:srgbClr val="FFFF00"/>
                </a:solidFill>
              </a:rPr>
              <a:t>Berpasangan</a:t>
            </a:r>
            <a:r>
              <a:rPr lang="en-US" sz="3200" b="1" dirty="0">
                <a:solidFill>
                  <a:srgbClr val="FFFF00"/>
                </a:solidFill>
              </a:rPr>
              <a:t>) </a:t>
            </a:r>
            <a:r>
              <a:rPr lang="en-US" sz="3200" dirty="0">
                <a:solidFill>
                  <a:srgbClr val="FFFF00"/>
                </a:solidFill>
              </a:rPr>
              <a:t>:</a:t>
            </a:r>
            <a:r>
              <a:rPr lang="en-US" sz="3200" b="1" dirty="0">
                <a:solidFill>
                  <a:srgbClr val="FFFF00"/>
                </a:solidFill>
              </a:rPr>
              <a:t> </a:t>
            </a:r>
          </a:p>
          <a:p>
            <a:pPr marL="1257300" lvl="2" indent="-457200" algn="just">
              <a:buFont typeface="Courier New" pitchFamily="49" charset="0"/>
              <a:buChar char="o"/>
              <a:defRPr/>
            </a:pPr>
            <a:r>
              <a:rPr lang="id-ID" sz="3200" dirty="0"/>
              <a:t>Prinsip ini dilakukan dengan </a:t>
            </a:r>
            <a:r>
              <a:rPr lang="id-ID" sz="3200" b="1" dirty="0"/>
              <a:t>membuat penilaian perbandingan berpasangan</a:t>
            </a:r>
            <a:r>
              <a:rPr lang="id-ID" sz="3200" dirty="0"/>
              <a:t> tentang kepentingan relatif dari dua elemen pada suatu tingkat hierarki tertentu dalam kaitannya dengan tingkat di atasnya</a:t>
            </a:r>
            <a:r>
              <a:rPr lang="en-US" sz="3200" dirty="0"/>
              <a:t>.</a:t>
            </a:r>
          </a:p>
          <a:p>
            <a:pPr marL="1257300" lvl="2" indent="-457200" algn="just">
              <a:buFont typeface="Courier New" pitchFamily="49" charset="0"/>
              <a:buChar char="o"/>
              <a:defRPr/>
            </a:pPr>
            <a:r>
              <a:rPr lang="en-US" sz="3200" b="1" dirty="0"/>
              <a:t>M</a:t>
            </a:r>
            <a:r>
              <a:rPr lang="id-ID" sz="3200" b="1" dirty="0"/>
              <a:t>emberikan bobot numerik </a:t>
            </a:r>
            <a:r>
              <a:rPr lang="id-ID" sz="3200" dirty="0"/>
              <a:t>berdasarkan perbandingan tersebut. </a:t>
            </a:r>
            <a:endParaRPr lang="en-US" sz="3200" dirty="0"/>
          </a:p>
          <a:p>
            <a:pPr marL="1257300" lvl="2" indent="-457200" algn="just">
              <a:buFont typeface="Courier New" pitchFamily="49" charset="0"/>
              <a:buChar char="o"/>
              <a:defRPr/>
            </a:pPr>
            <a:r>
              <a:rPr lang="en-US" sz="3200" b="1" dirty="0" err="1"/>
              <a:t>Meny</a:t>
            </a:r>
            <a:r>
              <a:rPr lang="id-ID" sz="3200" b="1" dirty="0"/>
              <a:t>ajikan </a:t>
            </a:r>
            <a:r>
              <a:rPr lang="id-ID" sz="3200" dirty="0"/>
              <a:t>dalam </a:t>
            </a:r>
            <a:r>
              <a:rPr lang="en-US" sz="3200" b="1" dirty="0" err="1"/>
              <a:t>bentuk</a:t>
            </a:r>
            <a:r>
              <a:rPr lang="en-US" sz="3200" b="1" dirty="0"/>
              <a:t> </a:t>
            </a:r>
            <a:r>
              <a:rPr lang="id-ID" sz="3200" b="1" dirty="0"/>
              <a:t>matriks </a:t>
            </a:r>
            <a:r>
              <a:rPr lang="id-ID" sz="3200" dirty="0"/>
              <a:t>yang disebut </a:t>
            </a:r>
            <a:r>
              <a:rPr lang="id-ID" sz="3200" i="1" dirty="0"/>
              <a:t>pairwise comparison</a:t>
            </a:r>
            <a:r>
              <a:rPr lang="id-ID" sz="3200" dirty="0"/>
              <a:t>.</a:t>
            </a:r>
            <a:endParaRPr lang="en-US" sz="3200" dirty="0"/>
          </a:p>
          <a:p>
            <a:endParaRPr lang="en-US" sz="3200" dirty="0"/>
          </a:p>
        </p:txBody>
      </p:sp>
      <p:sp>
        <p:nvSpPr>
          <p:cNvPr id="5" name="Title 4">
            <a:extLst>
              <a:ext uri="{FF2B5EF4-FFF2-40B4-BE49-F238E27FC236}">
                <a16:creationId xmlns:a16="http://schemas.microsoft.com/office/drawing/2014/main" id="{EC9C8EF0-B89B-49E1-9043-3BED0C794E4C}"/>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775917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332" y="2098878"/>
            <a:ext cx="11987668" cy="4759121"/>
          </a:xfrm>
        </p:spPr>
        <p:txBody>
          <a:bodyPr>
            <a:normAutofit/>
          </a:bodyPr>
          <a:lstStyle/>
          <a:p>
            <a:pPr marL="400050" indent="-457200">
              <a:buFontTx/>
              <a:buAutoNum type="arabicPeriod" startAt="3"/>
              <a:defRPr/>
            </a:pPr>
            <a:r>
              <a:rPr lang="en-US" sz="3200" b="1" dirty="0">
                <a:solidFill>
                  <a:srgbClr val="FFFF00"/>
                </a:solidFill>
                <a:ea typeface="Arial" pitchFamily="34" charset="0"/>
              </a:rPr>
              <a:t>Synthesis of Priority (</a:t>
            </a:r>
            <a:r>
              <a:rPr lang="en-US" sz="3200" b="1" dirty="0" err="1">
                <a:solidFill>
                  <a:srgbClr val="FFFF00"/>
                </a:solidFill>
                <a:ea typeface="Arial" pitchFamily="34" charset="0"/>
              </a:rPr>
              <a:t>Penentuan</a:t>
            </a:r>
            <a:r>
              <a:rPr lang="en-US" sz="3200" b="1" dirty="0">
                <a:solidFill>
                  <a:srgbClr val="FFFF00"/>
                </a:solidFill>
                <a:ea typeface="Arial" pitchFamily="34" charset="0"/>
              </a:rPr>
              <a:t> </a:t>
            </a:r>
            <a:r>
              <a:rPr lang="en-US" sz="3200" b="1" dirty="0" err="1">
                <a:solidFill>
                  <a:srgbClr val="FFFF00"/>
                </a:solidFill>
                <a:ea typeface="Arial" pitchFamily="34" charset="0"/>
              </a:rPr>
              <a:t>Prioritas</a:t>
            </a:r>
            <a:r>
              <a:rPr lang="en-US" sz="3200" b="1" dirty="0">
                <a:solidFill>
                  <a:srgbClr val="FFFF00"/>
                </a:solidFill>
                <a:ea typeface="Arial" pitchFamily="34" charset="0"/>
              </a:rPr>
              <a:t>) </a:t>
            </a:r>
            <a:r>
              <a:rPr lang="en-US" sz="3200" dirty="0">
                <a:solidFill>
                  <a:srgbClr val="FFFF00"/>
                </a:solidFill>
                <a:ea typeface="Arial" pitchFamily="34" charset="0"/>
              </a:rPr>
              <a:t>: </a:t>
            </a:r>
            <a:r>
              <a:rPr lang="en-US" sz="3200" dirty="0" err="1">
                <a:ea typeface="Arial" pitchFamily="34" charset="0"/>
              </a:rPr>
              <a:t>Tahap</a:t>
            </a:r>
            <a:r>
              <a:rPr lang="en-US" sz="3200" dirty="0">
                <a:ea typeface="Arial" pitchFamily="34" charset="0"/>
              </a:rPr>
              <a:t> </a:t>
            </a:r>
            <a:r>
              <a:rPr lang="en-US" sz="3200" dirty="0" err="1">
                <a:ea typeface="Arial" pitchFamily="34" charset="0"/>
              </a:rPr>
              <a:t>untuk</a:t>
            </a:r>
            <a:r>
              <a:rPr lang="en-US" sz="3200" dirty="0">
                <a:ea typeface="Arial" pitchFamily="34" charset="0"/>
              </a:rPr>
              <a:t> </a:t>
            </a:r>
            <a:r>
              <a:rPr lang="en-US" sz="3200" dirty="0" err="1">
                <a:ea typeface="Arial" pitchFamily="34" charset="0"/>
              </a:rPr>
              <a:t>mendapatkan</a:t>
            </a:r>
            <a:r>
              <a:rPr lang="en-US" sz="3200" dirty="0">
                <a:ea typeface="Arial" pitchFamily="34" charset="0"/>
              </a:rPr>
              <a:t> </a:t>
            </a:r>
            <a:r>
              <a:rPr lang="en-US" sz="3200" b="1" dirty="0" err="1">
                <a:ea typeface="Arial" pitchFamily="34" charset="0"/>
              </a:rPr>
              <a:t>bobot</a:t>
            </a:r>
            <a:r>
              <a:rPr lang="en-US" sz="3200" dirty="0">
                <a:ea typeface="Arial" pitchFamily="34" charset="0"/>
              </a:rPr>
              <a:t> </a:t>
            </a:r>
            <a:r>
              <a:rPr lang="en-US" sz="3200" dirty="0" err="1">
                <a:ea typeface="Arial" pitchFamily="34" charset="0"/>
              </a:rPr>
              <a:t>bagi</a:t>
            </a:r>
            <a:r>
              <a:rPr lang="en-US" sz="3200" dirty="0">
                <a:ea typeface="Arial" pitchFamily="34" charset="0"/>
              </a:rPr>
              <a:t> </a:t>
            </a:r>
            <a:r>
              <a:rPr lang="en-US" sz="3200" dirty="0" err="1">
                <a:ea typeface="Arial" pitchFamily="34" charset="0"/>
              </a:rPr>
              <a:t>setiap</a:t>
            </a:r>
            <a:r>
              <a:rPr lang="en-US" sz="3200" dirty="0">
                <a:ea typeface="Arial" pitchFamily="34" charset="0"/>
              </a:rPr>
              <a:t> </a:t>
            </a:r>
            <a:r>
              <a:rPr lang="en-US" sz="3200" b="1" dirty="0" err="1">
                <a:ea typeface="Arial" pitchFamily="34" charset="0"/>
              </a:rPr>
              <a:t>elemen</a:t>
            </a:r>
            <a:r>
              <a:rPr lang="en-US" sz="3200" dirty="0">
                <a:ea typeface="Arial" pitchFamily="34" charset="0"/>
              </a:rPr>
              <a:t> </a:t>
            </a:r>
            <a:r>
              <a:rPr lang="en-US" sz="3200" dirty="0" err="1">
                <a:ea typeface="Arial" pitchFamily="34" charset="0"/>
              </a:rPr>
              <a:t>hierarki</a:t>
            </a:r>
            <a:r>
              <a:rPr lang="en-US" sz="3200" dirty="0">
                <a:ea typeface="Arial" pitchFamily="34" charset="0"/>
              </a:rPr>
              <a:t> </a:t>
            </a:r>
            <a:r>
              <a:rPr lang="en-US" sz="3200" dirty="0" err="1">
                <a:ea typeface="Arial" pitchFamily="34" charset="0"/>
              </a:rPr>
              <a:t>dan</a:t>
            </a:r>
            <a:r>
              <a:rPr lang="en-US" sz="3200" dirty="0">
                <a:ea typeface="Arial" pitchFamily="34" charset="0"/>
              </a:rPr>
              <a:t> </a:t>
            </a:r>
            <a:r>
              <a:rPr lang="en-US" sz="3200" dirty="0" err="1">
                <a:ea typeface="Arial" pitchFamily="34" charset="0"/>
              </a:rPr>
              <a:t>elemen</a:t>
            </a:r>
            <a:r>
              <a:rPr lang="en-US" sz="3200" dirty="0">
                <a:ea typeface="Arial" pitchFamily="34" charset="0"/>
              </a:rPr>
              <a:t> </a:t>
            </a:r>
            <a:r>
              <a:rPr lang="en-US" sz="3200" dirty="0" err="1">
                <a:ea typeface="Arial" pitchFamily="34" charset="0"/>
              </a:rPr>
              <a:t>alternatif</a:t>
            </a:r>
            <a:r>
              <a:rPr lang="en-US" sz="3200" dirty="0">
                <a:ea typeface="Arial" pitchFamily="34" charset="0"/>
              </a:rPr>
              <a:t>.</a:t>
            </a:r>
          </a:p>
          <a:p>
            <a:pPr marL="400050" indent="-457200">
              <a:buFontTx/>
              <a:buAutoNum type="arabicPeriod" startAt="3"/>
              <a:defRPr/>
            </a:pPr>
            <a:r>
              <a:rPr lang="en-US" sz="3200" b="1" dirty="0">
                <a:solidFill>
                  <a:srgbClr val="FFFF00"/>
                </a:solidFill>
                <a:ea typeface="Arial" pitchFamily="34" charset="0"/>
              </a:rPr>
              <a:t>Logical </a:t>
            </a:r>
            <a:r>
              <a:rPr lang="en-US" sz="3200" b="1" dirty="0" err="1">
                <a:solidFill>
                  <a:srgbClr val="FFFF00"/>
                </a:solidFill>
                <a:ea typeface="Arial" pitchFamily="34" charset="0"/>
              </a:rPr>
              <a:t>Consistensy</a:t>
            </a:r>
            <a:r>
              <a:rPr lang="en-US" sz="3200" b="1" dirty="0">
                <a:solidFill>
                  <a:srgbClr val="FFFF00"/>
                </a:solidFill>
                <a:ea typeface="Arial" pitchFamily="34" charset="0"/>
              </a:rPr>
              <a:t> (</a:t>
            </a:r>
            <a:r>
              <a:rPr lang="en-US" sz="3200" b="1" dirty="0" err="1">
                <a:solidFill>
                  <a:srgbClr val="FFFF00"/>
                </a:solidFill>
                <a:ea typeface="Arial" pitchFamily="34" charset="0"/>
              </a:rPr>
              <a:t>Konsistensi</a:t>
            </a:r>
            <a:r>
              <a:rPr lang="en-US" sz="3200" b="1" dirty="0">
                <a:solidFill>
                  <a:srgbClr val="FFFF00"/>
                </a:solidFill>
                <a:ea typeface="Arial" pitchFamily="34" charset="0"/>
              </a:rPr>
              <a:t> </a:t>
            </a:r>
            <a:r>
              <a:rPr lang="en-US" sz="3200" b="1" dirty="0" err="1">
                <a:solidFill>
                  <a:srgbClr val="FFFF00"/>
                </a:solidFill>
                <a:ea typeface="Arial" pitchFamily="34" charset="0"/>
              </a:rPr>
              <a:t>Logis</a:t>
            </a:r>
            <a:r>
              <a:rPr lang="en-US" sz="3200" b="1" dirty="0">
                <a:solidFill>
                  <a:srgbClr val="FFFF00"/>
                </a:solidFill>
                <a:ea typeface="Arial" pitchFamily="34" charset="0"/>
              </a:rPr>
              <a:t>) :</a:t>
            </a:r>
            <a:r>
              <a:rPr lang="en-US" sz="3200" b="1" dirty="0" err="1">
                <a:ea typeface="Arial" pitchFamily="34" charset="0"/>
              </a:rPr>
              <a:t>Konsistensi</a:t>
            </a:r>
            <a:r>
              <a:rPr lang="en-US" sz="3200" b="1" dirty="0">
                <a:ea typeface="Arial" pitchFamily="34" charset="0"/>
              </a:rPr>
              <a:t> data </a:t>
            </a:r>
            <a:r>
              <a:rPr lang="en-US" sz="3200" dirty="0" err="1">
                <a:ea typeface="Arial" pitchFamily="34" charset="0"/>
              </a:rPr>
              <a:t>didapat</a:t>
            </a:r>
            <a:r>
              <a:rPr lang="en-US" sz="3200" dirty="0">
                <a:ea typeface="Arial" pitchFamily="34" charset="0"/>
              </a:rPr>
              <a:t> </a:t>
            </a:r>
            <a:r>
              <a:rPr lang="en-US" sz="3200" dirty="0" err="1">
                <a:ea typeface="Arial" pitchFamily="34" charset="0"/>
              </a:rPr>
              <a:t>dari</a:t>
            </a:r>
            <a:r>
              <a:rPr lang="en-US" sz="3200" dirty="0">
                <a:ea typeface="Arial" pitchFamily="34" charset="0"/>
              </a:rPr>
              <a:t> </a:t>
            </a:r>
            <a:r>
              <a:rPr lang="en-US" sz="3200" dirty="0" err="1">
                <a:ea typeface="Arial" pitchFamily="34" charset="0"/>
              </a:rPr>
              <a:t>rasio</a:t>
            </a:r>
            <a:r>
              <a:rPr lang="en-US" sz="3200" dirty="0">
                <a:ea typeface="Arial" pitchFamily="34" charset="0"/>
              </a:rPr>
              <a:t> </a:t>
            </a:r>
            <a:r>
              <a:rPr lang="en-US" sz="3200" dirty="0" err="1">
                <a:ea typeface="Arial" pitchFamily="34" charset="0"/>
              </a:rPr>
              <a:t>konsistensi</a:t>
            </a:r>
            <a:r>
              <a:rPr lang="en-US" sz="3200" dirty="0">
                <a:ea typeface="Arial" pitchFamily="34" charset="0"/>
              </a:rPr>
              <a:t> (CR) yang </a:t>
            </a:r>
            <a:r>
              <a:rPr lang="en-US" sz="3200" dirty="0" err="1">
                <a:ea typeface="Arial" pitchFamily="34" charset="0"/>
              </a:rPr>
              <a:t>merupakan</a:t>
            </a:r>
            <a:r>
              <a:rPr lang="en-US" sz="3200" dirty="0">
                <a:ea typeface="Arial" pitchFamily="34" charset="0"/>
              </a:rPr>
              <a:t> </a:t>
            </a:r>
            <a:r>
              <a:rPr lang="en-US" sz="3200" dirty="0" err="1">
                <a:ea typeface="Arial" pitchFamily="34" charset="0"/>
              </a:rPr>
              <a:t>hasil</a:t>
            </a:r>
            <a:r>
              <a:rPr lang="en-US" sz="3200" dirty="0">
                <a:ea typeface="Arial" pitchFamily="34" charset="0"/>
              </a:rPr>
              <a:t> </a:t>
            </a:r>
            <a:r>
              <a:rPr lang="en-US" sz="3200" dirty="0" err="1">
                <a:ea typeface="Arial" pitchFamily="34" charset="0"/>
              </a:rPr>
              <a:t>bagi</a:t>
            </a:r>
            <a:r>
              <a:rPr lang="en-US" sz="3200" dirty="0">
                <a:ea typeface="Arial" pitchFamily="34" charset="0"/>
              </a:rPr>
              <a:t> </a:t>
            </a:r>
            <a:r>
              <a:rPr lang="en-US" sz="3200" dirty="0" err="1">
                <a:ea typeface="Arial" pitchFamily="34" charset="0"/>
              </a:rPr>
              <a:t>antara</a:t>
            </a:r>
            <a:r>
              <a:rPr lang="en-US" sz="3200" dirty="0">
                <a:ea typeface="Arial" pitchFamily="34" charset="0"/>
              </a:rPr>
              <a:t> </a:t>
            </a:r>
            <a:r>
              <a:rPr lang="en-US" sz="3200" dirty="0" err="1">
                <a:ea typeface="Arial" pitchFamily="34" charset="0"/>
              </a:rPr>
              <a:t>indeks</a:t>
            </a:r>
            <a:r>
              <a:rPr lang="en-US" sz="3200" dirty="0">
                <a:ea typeface="Arial" pitchFamily="34" charset="0"/>
              </a:rPr>
              <a:t> </a:t>
            </a:r>
            <a:r>
              <a:rPr lang="en-US" sz="3200" dirty="0" err="1">
                <a:ea typeface="Arial" pitchFamily="34" charset="0"/>
              </a:rPr>
              <a:t>konsistensi</a:t>
            </a:r>
            <a:r>
              <a:rPr lang="en-US" sz="3200" dirty="0">
                <a:ea typeface="Arial" pitchFamily="34" charset="0"/>
              </a:rPr>
              <a:t> (CI) </a:t>
            </a:r>
            <a:r>
              <a:rPr lang="en-US" sz="3200" dirty="0" err="1">
                <a:ea typeface="Arial" pitchFamily="34" charset="0"/>
              </a:rPr>
              <a:t>dan</a:t>
            </a:r>
            <a:r>
              <a:rPr lang="en-US" sz="3200" dirty="0">
                <a:ea typeface="Arial" pitchFamily="34" charset="0"/>
              </a:rPr>
              <a:t> </a:t>
            </a:r>
            <a:r>
              <a:rPr lang="en-US" sz="3200" dirty="0" err="1">
                <a:ea typeface="Arial" pitchFamily="34" charset="0"/>
              </a:rPr>
              <a:t>indeks</a:t>
            </a:r>
            <a:r>
              <a:rPr lang="en-US" sz="3200" dirty="0">
                <a:ea typeface="Arial" pitchFamily="34" charset="0"/>
              </a:rPr>
              <a:t> random (RI).</a:t>
            </a:r>
            <a:r>
              <a:rPr lang="en-US" sz="3200" dirty="0" err="1"/>
              <a:t>Jika</a:t>
            </a:r>
            <a:r>
              <a:rPr lang="en-US" sz="3200" dirty="0"/>
              <a:t> </a:t>
            </a:r>
            <a:r>
              <a:rPr lang="en-US" sz="3200" dirty="0" err="1"/>
              <a:t>tidak</a:t>
            </a:r>
            <a:r>
              <a:rPr lang="en-US" sz="3200" dirty="0"/>
              <a:t> </a:t>
            </a:r>
            <a:r>
              <a:rPr lang="en-US" sz="3200" dirty="0" err="1"/>
              <a:t>konsisten</a:t>
            </a:r>
            <a:r>
              <a:rPr lang="en-US" sz="3200" dirty="0"/>
              <a:t> </a:t>
            </a:r>
            <a:r>
              <a:rPr lang="en-US" sz="3200" dirty="0" err="1"/>
              <a:t>maka</a:t>
            </a:r>
            <a:r>
              <a:rPr lang="en-US" sz="3200" dirty="0"/>
              <a:t> </a:t>
            </a:r>
            <a:r>
              <a:rPr lang="en-US" sz="3200" dirty="0" err="1"/>
              <a:t>pengambilan</a:t>
            </a:r>
            <a:r>
              <a:rPr lang="en-US" sz="3200" dirty="0"/>
              <a:t> data </a:t>
            </a:r>
            <a:r>
              <a:rPr lang="en-US" sz="3200" dirty="0" err="1"/>
              <a:t>diulangi</a:t>
            </a:r>
            <a:r>
              <a:rPr lang="en-US" sz="3200" dirty="0"/>
              <a:t>.</a:t>
            </a:r>
          </a:p>
          <a:p>
            <a:pPr marL="400050" indent="-457200">
              <a:buFontTx/>
              <a:buAutoNum type="arabicPeriod" startAt="3"/>
              <a:defRPr/>
            </a:pPr>
            <a:r>
              <a:rPr lang="en-US" sz="3200" b="1" dirty="0" err="1">
                <a:solidFill>
                  <a:srgbClr val="FFFF00"/>
                </a:solidFill>
              </a:rPr>
              <a:t>Mengulangi</a:t>
            </a:r>
            <a:r>
              <a:rPr lang="en-US" sz="3200" b="1" dirty="0">
                <a:solidFill>
                  <a:srgbClr val="FFFF00"/>
                </a:solidFill>
              </a:rPr>
              <a:t> </a:t>
            </a:r>
            <a:r>
              <a:rPr lang="en-US" sz="3200" b="1" dirty="0" err="1">
                <a:solidFill>
                  <a:srgbClr val="FFFF00"/>
                </a:solidFill>
              </a:rPr>
              <a:t>langkah</a:t>
            </a:r>
            <a:r>
              <a:rPr lang="en-US" sz="3200" b="1" dirty="0">
                <a:solidFill>
                  <a:srgbClr val="FFFF00"/>
                </a:solidFill>
              </a:rPr>
              <a:t> 2,3, </a:t>
            </a:r>
            <a:r>
              <a:rPr lang="en-US" sz="3200" b="1" dirty="0" err="1">
                <a:solidFill>
                  <a:srgbClr val="FFFF00"/>
                </a:solidFill>
              </a:rPr>
              <a:t>dan</a:t>
            </a:r>
            <a:r>
              <a:rPr lang="en-US" sz="3200" b="1" dirty="0">
                <a:solidFill>
                  <a:srgbClr val="FFFF00"/>
                </a:solidFill>
              </a:rPr>
              <a:t> 4,untuk </a:t>
            </a:r>
            <a:r>
              <a:rPr lang="en-US" sz="3200" b="1" dirty="0" err="1">
                <a:solidFill>
                  <a:srgbClr val="FFFF00"/>
                </a:solidFill>
              </a:rPr>
              <a:t>seluruh</a:t>
            </a:r>
            <a:r>
              <a:rPr lang="en-US" sz="3200" b="1" dirty="0">
                <a:solidFill>
                  <a:srgbClr val="FFFF00"/>
                </a:solidFill>
              </a:rPr>
              <a:t> </a:t>
            </a:r>
            <a:r>
              <a:rPr lang="en-US" sz="3200" b="1" dirty="0" err="1">
                <a:solidFill>
                  <a:srgbClr val="FFFF00"/>
                </a:solidFill>
              </a:rPr>
              <a:t>tingkat</a:t>
            </a:r>
            <a:r>
              <a:rPr lang="en-US" sz="3200" b="1" dirty="0">
                <a:solidFill>
                  <a:srgbClr val="FFFF00"/>
                </a:solidFill>
              </a:rPr>
              <a:t> </a:t>
            </a:r>
            <a:r>
              <a:rPr lang="en-US" sz="3200" b="1" dirty="0" err="1">
                <a:solidFill>
                  <a:srgbClr val="FFFF00"/>
                </a:solidFill>
              </a:rPr>
              <a:t>hirarki</a:t>
            </a:r>
            <a:r>
              <a:rPr lang="en-US" sz="3200" b="1" dirty="0">
                <a:solidFill>
                  <a:srgbClr val="FFFF00"/>
                </a:solidFill>
              </a:rPr>
              <a:t>. </a:t>
            </a:r>
            <a:endParaRPr lang="en-US" sz="3200" dirty="0">
              <a:solidFill>
                <a:srgbClr val="FFFF00"/>
              </a:solidFill>
            </a:endParaRPr>
          </a:p>
          <a:p>
            <a:pPr marL="400050" indent="-457200">
              <a:buFontTx/>
              <a:buAutoNum type="arabicPeriod" startAt="3"/>
              <a:defRPr/>
            </a:pPr>
            <a:endParaRPr lang="en-US" sz="3200" dirty="0"/>
          </a:p>
        </p:txBody>
      </p:sp>
      <p:sp>
        <p:nvSpPr>
          <p:cNvPr id="5" name="Title 4">
            <a:extLst>
              <a:ext uri="{FF2B5EF4-FFF2-40B4-BE49-F238E27FC236}">
                <a16:creationId xmlns:a16="http://schemas.microsoft.com/office/drawing/2014/main" id="{E48BCE72-B0CD-49B2-9ED4-E8E63607C243}"/>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00529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fontScale="90000"/>
          </a:bodyPr>
          <a:lstStyle/>
          <a:p>
            <a:r>
              <a:rPr lang="en-US" dirty="0"/>
              <a:t>Analytic Hierarchy Process (AHP)</a:t>
            </a:r>
            <a:br>
              <a:rPr lang="en-US" dirty="0"/>
            </a:br>
            <a:r>
              <a:rPr lang="en-US" dirty="0" err="1">
                <a:ea typeface="ＭＳ Ｐゴシック" pitchFamily="34" charset="-128"/>
              </a:rPr>
              <a:t>Prinsip</a:t>
            </a:r>
            <a:r>
              <a:rPr lang="en-US" dirty="0">
                <a:ea typeface="ＭＳ Ｐゴシック" pitchFamily="34" charset="-128"/>
              </a:rPr>
              <a:t> </a:t>
            </a:r>
            <a:r>
              <a:rPr lang="en-US" dirty="0" err="1">
                <a:ea typeface="ＭＳ Ｐゴシック" pitchFamily="34" charset="-128"/>
              </a:rPr>
              <a:t>Dasar</a:t>
            </a:r>
            <a:r>
              <a:rPr lang="en-US" dirty="0">
                <a:ea typeface="ＭＳ Ｐゴシック" pitchFamily="34" charset="-128"/>
              </a:rPr>
              <a:t> AHP (Prof. Thomas L. </a:t>
            </a:r>
            <a:r>
              <a:rPr lang="en-US" dirty="0" err="1">
                <a:ea typeface="ＭＳ Ｐゴシック" pitchFamily="34" charset="-128"/>
              </a:rPr>
              <a:t>Saaty</a:t>
            </a:r>
            <a:r>
              <a:rPr lang="en-US" dirty="0">
                <a:ea typeface="ＭＳ Ｐゴシック" pitchFamily="34" charset="-128"/>
              </a:rPr>
              <a:t>, 1980) :</a:t>
            </a:r>
            <a:br>
              <a:rPr lang="en-US" dirty="0">
                <a:ea typeface="ＭＳ Ｐゴシック" pitchFamily="34" charset="-128"/>
              </a:rPr>
            </a:br>
            <a:endParaRPr lang="en-US" dirty="0"/>
          </a:p>
        </p:txBody>
      </p:sp>
      <p:sp>
        <p:nvSpPr>
          <p:cNvPr id="3" name="Content Placeholder 2"/>
          <p:cNvSpPr>
            <a:spLocks noGrp="1"/>
          </p:cNvSpPr>
          <p:nvPr>
            <p:ph idx="1"/>
          </p:nvPr>
        </p:nvSpPr>
        <p:spPr>
          <a:xfrm>
            <a:off x="125260" y="386499"/>
            <a:ext cx="11661732" cy="907199"/>
          </a:xfrm>
        </p:spPr>
        <p:txBody>
          <a:bodyPr>
            <a:noAutofit/>
          </a:bodyPr>
          <a:lstStyle/>
          <a:p>
            <a:pPr marL="0" indent="0" algn="just">
              <a:buNone/>
            </a:pPr>
            <a:endParaRPr lang="en-US" b="1" dirty="0">
              <a:solidFill>
                <a:srgbClr val="FFFF00"/>
              </a:solidFill>
            </a:endParaRPr>
          </a:p>
          <a:p>
            <a:pPr marL="0" indent="0" algn="just">
              <a:buNone/>
            </a:pPr>
            <a:endParaRPr lang="en-US" b="1" dirty="0">
              <a:solidFill>
                <a:srgbClr val="FFFF00"/>
              </a:solidFill>
            </a:endParaRPr>
          </a:p>
          <a:p>
            <a:pPr marL="0" indent="0" algn="just">
              <a:buNone/>
            </a:pPr>
            <a:endParaRPr lang="en-US" b="1" dirty="0">
              <a:solidFill>
                <a:srgbClr val="FFFF00"/>
              </a:solidFill>
            </a:endParaRPr>
          </a:p>
          <a:p>
            <a:pPr marL="0" indent="0" algn="just">
              <a:buNone/>
            </a:pPr>
            <a:r>
              <a:rPr lang="en-US" sz="2800" b="1" dirty="0">
                <a:solidFill>
                  <a:srgbClr val="FFFF00"/>
                </a:solidFill>
              </a:rPr>
              <a:t>6.Menghitung </a:t>
            </a:r>
            <a:r>
              <a:rPr lang="en-US" sz="2800" b="1" dirty="0" err="1">
                <a:solidFill>
                  <a:srgbClr val="FFFF00"/>
                </a:solidFill>
              </a:rPr>
              <a:t>vektor</a:t>
            </a:r>
            <a:r>
              <a:rPr lang="en-US" sz="2800" b="1" dirty="0">
                <a:solidFill>
                  <a:srgbClr val="FFFF00"/>
                </a:solidFill>
              </a:rPr>
              <a:t> eigen </a:t>
            </a:r>
            <a:r>
              <a:rPr lang="en-US" sz="2800" b="1" dirty="0" err="1">
                <a:solidFill>
                  <a:srgbClr val="FFFF00"/>
                </a:solidFill>
              </a:rPr>
              <a:t>dari</a:t>
            </a:r>
            <a:r>
              <a:rPr lang="en-US" sz="2800" b="1" dirty="0">
                <a:solidFill>
                  <a:srgbClr val="FFFF00"/>
                </a:solidFill>
              </a:rPr>
              <a:t> </a:t>
            </a:r>
            <a:r>
              <a:rPr lang="en-US" sz="2800" b="1" dirty="0" err="1">
                <a:solidFill>
                  <a:srgbClr val="FFFF00"/>
                </a:solidFill>
              </a:rPr>
              <a:t>setiap</a:t>
            </a:r>
            <a:r>
              <a:rPr lang="en-US" sz="2800" b="1" dirty="0">
                <a:solidFill>
                  <a:srgbClr val="FFFF00"/>
                </a:solidFill>
              </a:rPr>
              <a:t> </a:t>
            </a:r>
            <a:r>
              <a:rPr lang="en-US" sz="2800" b="1" dirty="0" err="1">
                <a:solidFill>
                  <a:srgbClr val="FFFF00"/>
                </a:solidFill>
              </a:rPr>
              <a:t>matriks</a:t>
            </a:r>
            <a:r>
              <a:rPr lang="en-US" sz="2800" b="1" dirty="0">
                <a:solidFill>
                  <a:srgbClr val="FFFF00"/>
                </a:solidFill>
              </a:rPr>
              <a:t> </a:t>
            </a:r>
            <a:r>
              <a:rPr lang="en-US" sz="2800" b="1" dirty="0" err="1">
                <a:solidFill>
                  <a:srgbClr val="FFFF00"/>
                </a:solidFill>
              </a:rPr>
              <a:t>perbandingan</a:t>
            </a:r>
            <a:r>
              <a:rPr lang="en-US" sz="2800" b="1" dirty="0">
                <a:solidFill>
                  <a:srgbClr val="FFFF00"/>
                </a:solidFill>
              </a:rPr>
              <a:t> </a:t>
            </a:r>
            <a:r>
              <a:rPr lang="en-US" sz="2800" b="1" dirty="0" err="1">
                <a:solidFill>
                  <a:srgbClr val="FFFF00"/>
                </a:solidFill>
              </a:rPr>
              <a:t>berpasangan</a:t>
            </a:r>
            <a:r>
              <a:rPr lang="en-US" sz="2800" b="1" dirty="0">
                <a:solidFill>
                  <a:srgbClr val="FFFF00"/>
                </a:solidFill>
              </a:rPr>
              <a:t> </a:t>
            </a:r>
            <a:r>
              <a:rPr lang="en-US" sz="2800" dirty="0">
                <a:solidFill>
                  <a:srgbClr val="FFFF00"/>
                </a:solidFill>
              </a:rPr>
              <a:t>yang </a:t>
            </a:r>
            <a:r>
              <a:rPr lang="en-US" sz="2800" dirty="0" err="1">
                <a:solidFill>
                  <a:srgbClr val="FFFF00"/>
                </a:solidFill>
              </a:rPr>
              <a:t>merupakan</a:t>
            </a:r>
            <a:r>
              <a:rPr lang="en-US" sz="2800" dirty="0">
                <a:solidFill>
                  <a:srgbClr val="FFFF00"/>
                </a:solidFill>
              </a:rPr>
              <a:t> </a:t>
            </a:r>
            <a:r>
              <a:rPr lang="en-US" sz="2800" dirty="0" err="1">
                <a:solidFill>
                  <a:srgbClr val="FFFF00"/>
                </a:solidFill>
              </a:rPr>
              <a:t>bobot</a:t>
            </a:r>
            <a:r>
              <a:rPr lang="en-US" sz="2800" dirty="0"/>
              <a:t> </a:t>
            </a:r>
            <a:r>
              <a:rPr lang="en-US" sz="2800" dirty="0" err="1"/>
              <a:t>setiap</a:t>
            </a:r>
            <a:r>
              <a:rPr lang="en-US" sz="2800" dirty="0"/>
              <a:t> </a:t>
            </a:r>
            <a:r>
              <a:rPr lang="en-US" sz="2800" dirty="0" err="1"/>
              <a:t>elemen</a:t>
            </a:r>
            <a:r>
              <a:rPr lang="en-US" sz="2800" dirty="0"/>
              <a:t> </a:t>
            </a:r>
            <a:r>
              <a:rPr lang="en-US" sz="2800" dirty="0" err="1"/>
              <a:t>untuk</a:t>
            </a:r>
            <a:r>
              <a:rPr lang="en-US" sz="2800" dirty="0"/>
              <a:t> </a:t>
            </a:r>
            <a:r>
              <a:rPr lang="en-US" sz="2800" dirty="0" err="1"/>
              <a:t>penentuan</a:t>
            </a:r>
            <a:r>
              <a:rPr lang="en-US" sz="2800" dirty="0"/>
              <a:t> </a:t>
            </a:r>
            <a:r>
              <a:rPr lang="en-US" sz="2800" dirty="0" err="1"/>
              <a:t>prioritas</a:t>
            </a:r>
            <a:r>
              <a:rPr lang="en-US" sz="2800" dirty="0"/>
              <a:t> </a:t>
            </a:r>
            <a:r>
              <a:rPr lang="en-US" sz="2800" dirty="0" err="1"/>
              <a:t>elemen-elemen</a:t>
            </a:r>
            <a:r>
              <a:rPr lang="en-US" sz="2800" dirty="0"/>
              <a:t> pada </a:t>
            </a:r>
            <a:r>
              <a:rPr lang="en-US" sz="2800" dirty="0" err="1"/>
              <a:t>tingkat</a:t>
            </a:r>
            <a:r>
              <a:rPr lang="en-US" sz="2800" dirty="0"/>
              <a:t> </a:t>
            </a:r>
            <a:r>
              <a:rPr lang="en-US" sz="2800" dirty="0" err="1"/>
              <a:t>hirarki</a:t>
            </a:r>
            <a:r>
              <a:rPr lang="en-US" sz="2800" dirty="0"/>
              <a:t> </a:t>
            </a:r>
            <a:r>
              <a:rPr lang="en-US" sz="2800" dirty="0" err="1"/>
              <a:t>terendah</a:t>
            </a:r>
            <a:r>
              <a:rPr lang="en-US" sz="2800" dirty="0"/>
              <a:t> </a:t>
            </a:r>
            <a:r>
              <a:rPr lang="en-US" sz="2800" dirty="0" err="1"/>
              <a:t>sampai</a:t>
            </a:r>
            <a:r>
              <a:rPr lang="en-US" sz="2800" dirty="0"/>
              <a:t> </a:t>
            </a:r>
            <a:r>
              <a:rPr lang="en-US" sz="2800" dirty="0" err="1"/>
              <a:t>mencapai</a:t>
            </a:r>
            <a:r>
              <a:rPr lang="en-US" sz="2800" dirty="0"/>
              <a:t> </a:t>
            </a:r>
            <a:r>
              <a:rPr lang="en-US" sz="2800" dirty="0" err="1"/>
              <a:t>tujuan</a:t>
            </a:r>
            <a:r>
              <a:rPr lang="en-US" sz="2800" dirty="0"/>
              <a:t>. </a:t>
            </a:r>
            <a:r>
              <a:rPr lang="en-US" sz="2800" dirty="0" err="1"/>
              <a:t>Penghitungan</a:t>
            </a:r>
            <a:r>
              <a:rPr lang="en-US" sz="2800" dirty="0"/>
              <a:t> </a:t>
            </a:r>
            <a:r>
              <a:rPr lang="en-US" sz="2800" dirty="0" err="1"/>
              <a:t>dilakukan</a:t>
            </a:r>
            <a:r>
              <a:rPr lang="en-US" sz="2800" dirty="0"/>
              <a:t> </a:t>
            </a:r>
            <a:r>
              <a:rPr lang="en-US" sz="2800" dirty="0" err="1"/>
              <a:t>lewat</a:t>
            </a:r>
            <a:r>
              <a:rPr lang="en-US" sz="2800" dirty="0"/>
              <a:t> </a:t>
            </a:r>
            <a:r>
              <a:rPr lang="en-US" sz="2800" dirty="0" err="1"/>
              <a:t>cara</a:t>
            </a:r>
            <a:r>
              <a:rPr lang="en-US" sz="2800" dirty="0"/>
              <a:t> </a:t>
            </a:r>
            <a:r>
              <a:rPr lang="en-US" sz="2800" dirty="0" err="1"/>
              <a:t>menjumlahkan</a:t>
            </a:r>
            <a:r>
              <a:rPr lang="en-US" sz="2800" dirty="0"/>
              <a:t> </a:t>
            </a:r>
            <a:r>
              <a:rPr lang="en-US" sz="2800" dirty="0" err="1"/>
              <a:t>nilai</a:t>
            </a:r>
            <a:r>
              <a:rPr lang="en-US" sz="2800" dirty="0"/>
              <a:t> </a:t>
            </a:r>
            <a:r>
              <a:rPr lang="en-US" sz="2800" dirty="0" err="1"/>
              <a:t>setiap</a:t>
            </a:r>
            <a:r>
              <a:rPr lang="en-US" sz="2800" dirty="0"/>
              <a:t> </a:t>
            </a:r>
            <a:r>
              <a:rPr lang="en-US" sz="2800" dirty="0" err="1"/>
              <a:t>kolom</a:t>
            </a:r>
            <a:r>
              <a:rPr lang="en-US" sz="2800" dirty="0"/>
              <a:t> </a:t>
            </a:r>
            <a:r>
              <a:rPr lang="en-US" sz="2800" dirty="0" err="1"/>
              <a:t>dari</a:t>
            </a:r>
            <a:r>
              <a:rPr lang="en-US" sz="2800" dirty="0"/>
              <a:t> </a:t>
            </a:r>
            <a:r>
              <a:rPr lang="en-US" sz="2800" dirty="0" err="1"/>
              <a:t>matriks</a:t>
            </a:r>
            <a:r>
              <a:rPr lang="en-US" sz="2800" dirty="0"/>
              <a:t>, </a:t>
            </a:r>
            <a:r>
              <a:rPr lang="en-US" sz="2800" dirty="0" err="1"/>
              <a:t>membagi</a:t>
            </a:r>
            <a:r>
              <a:rPr lang="en-US" sz="2800" dirty="0"/>
              <a:t> </a:t>
            </a:r>
            <a:r>
              <a:rPr lang="en-US" sz="2800" dirty="0" err="1"/>
              <a:t>setiap</a:t>
            </a:r>
            <a:r>
              <a:rPr lang="en-US" sz="2800" dirty="0"/>
              <a:t> </a:t>
            </a:r>
            <a:r>
              <a:rPr lang="en-US" sz="2800" dirty="0" err="1"/>
              <a:t>nilai</a:t>
            </a:r>
            <a:r>
              <a:rPr lang="en-US" sz="2800" dirty="0"/>
              <a:t> </a:t>
            </a:r>
            <a:r>
              <a:rPr lang="en-US" sz="2800" dirty="0" err="1"/>
              <a:t>dari</a:t>
            </a:r>
            <a:r>
              <a:rPr lang="en-US" sz="2800" dirty="0"/>
              <a:t> </a:t>
            </a:r>
            <a:r>
              <a:rPr lang="en-US" sz="2800" dirty="0" err="1"/>
              <a:t>kolom</a:t>
            </a:r>
            <a:r>
              <a:rPr lang="en-US" sz="2800" dirty="0"/>
              <a:t> </a:t>
            </a:r>
            <a:r>
              <a:rPr lang="en-US" sz="2800" dirty="0" err="1"/>
              <a:t>dengan</a:t>
            </a:r>
            <a:r>
              <a:rPr lang="en-US" sz="2800" dirty="0"/>
              <a:t> total </a:t>
            </a:r>
            <a:r>
              <a:rPr lang="en-US" sz="2800" dirty="0" err="1"/>
              <a:t>kolom</a:t>
            </a:r>
            <a:r>
              <a:rPr lang="en-US" sz="2800" dirty="0"/>
              <a:t> yang </a:t>
            </a:r>
            <a:r>
              <a:rPr lang="en-US" sz="2800" dirty="0" err="1"/>
              <a:t>bersangkutan</a:t>
            </a:r>
            <a:r>
              <a:rPr lang="en-US" sz="2800" dirty="0"/>
              <a:t> </a:t>
            </a:r>
            <a:r>
              <a:rPr lang="en-US" sz="2800" dirty="0" err="1"/>
              <a:t>untuk</a:t>
            </a:r>
            <a:r>
              <a:rPr lang="en-US" sz="2800" dirty="0"/>
              <a:t> </a:t>
            </a:r>
            <a:r>
              <a:rPr lang="en-US" sz="2800" dirty="0" err="1"/>
              <a:t>memperoleh</a:t>
            </a:r>
            <a:r>
              <a:rPr lang="en-US" sz="2800" dirty="0"/>
              <a:t> </a:t>
            </a:r>
            <a:r>
              <a:rPr lang="en-US" sz="2800" dirty="0" err="1"/>
              <a:t>normalisasi</a:t>
            </a:r>
            <a:r>
              <a:rPr lang="en-US" sz="2800" dirty="0"/>
              <a:t> </a:t>
            </a:r>
            <a:r>
              <a:rPr lang="en-US" sz="2800" dirty="0" err="1"/>
              <a:t>matriks</a:t>
            </a:r>
            <a:r>
              <a:rPr lang="en-US" sz="2800" dirty="0"/>
              <a:t>, </a:t>
            </a:r>
            <a:r>
              <a:rPr lang="en-US" sz="2800" dirty="0" err="1"/>
              <a:t>dan</a:t>
            </a:r>
            <a:r>
              <a:rPr lang="en-US" sz="2800" dirty="0"/>
              <a:t> </a:t>
            </a:r>
            <a:r>
              <a:rPr lang="en-US" sz="2800" dirty="0" err="1"/>
              <a:t>menjumlahkan</a:t>
            </a:r>
            <a:r>
              <a:rPr lang="en-US" sz="2800" dirty="0"/>
              <a:t> </a:t>
            </a:r>
            <a:r>
              <a:rPr lang="en-US" sz="2800" dirty="0" err="1"/>
              <a:t>nilai-nilai</a:t>
            </a:r>
            <a:r>
              <a:rPr lang="en-US" sz="2800" dirty="0"/>
              <a:t> </a:t>
            </a:r>
            <a:r>
              <a:rPr lang="en-US" sz="2800" dirty="0" err="1"/>
              <a:t>dari</a:t>
            </a:r>
            <a:r>
              <a:rPr lang="en-US" sz="2800" dirty="0"/>
              <a:t> </a:t>
            </a:r>
            <a:r>
              <a:rPr lang="en-US" sz="2800" dirty="0" err="1"/>
              <a:t>setiap</a:t>
            </a:r>
            <a:r>
              <a:rPr lang="en-US" sz="2800" dirty="0"/>
              <a:t> </a:t>
            </a:r>
            <a:r>
              <a:rPr lang="en-US" sz="2800" dirty="0" err="1"/>
              <a:t>baris</a:t>
            </a:r>
            <a:r>
              <a:rPr lang="en-US" sz="2800" dirty="0"/>
              <a:t> </a:t>
            </a:r>
            <a:r>
              <a:rPr lang="en-US" sz="2800" dirty="0" err="1"/>
              <a:t>dan</a:t>
            </a:r>
            <a:r>
              <a:rPr lang="en-US" sz="2800" dirty="0"/>
              <a:t> </a:t>
            </a:r>
            <a:r>
              <a:rPr lang="en-US" sz="2800" dirty="0" err="1"/>
              <a:t>membaginya</a:t>
            </a:r>
            <a:r>
              <a:rPr lang="en-US" sz="2800" dirty="0"/>
              <a:t> </a:t>
            </a:r>
            <a:r>
              <a:rPr lang="en-US" sz="2800" dirty="0" err="1"/>
              <a:t>dengan</a:t>
            </a:r>
            <a:r>
              <a:rPr lang="en-US" sz="2800" dirty="0"/>
              <a:t> </a:t>
            </a:r>
            <a:r>
              <a:rPr lang="en-US" sz="2800" dirty="0" err="1"/>
              <a:t>jumlah</a:t>
            </a:r>
            <a:r>
              <a:rPr lang="en-US" sz="2800" dirty="0"/>
              <a:t> </a:t>
            </a:r>
            <a:r>
              <a:rPr lang="en-US" sz="2800" dirty="0" err="1"/>
              <a:t>elemen</a:t>
            </a:r>
            <a:r>
              <a:rPr lang="en-US" sz="2800" dirty="0"/>
              <a:t> </a:t>
            </a:r>
            <a:r>
              <a:rPr lang="en-US" sz="2800" dirty="0" err="1"/>
              <a:t>untuk</a:t>
            </a:r>
            <a:r>
              <a:rPr lang="en-US" sz="2800" dirty="0"/>
              <a:t> </a:t>
            </a:r>
            <a:r>
              <a:rPr lang="en-US" sz="2800" dirty="0" err="1"/>
              <a:t>mendapatkan</a:t>
            </a:r>
            <a:r>
              <a:rPr lang="en-US" sz="2800" dirty="0"/>
              <a:t> rata-rata. </a:t>
            </a:r>
          </a:p>
          <a:p>
            <a:pPr marL="0" indent="0" algn="just">
              <a:buNone/>
            </a:pPr>
            <a:r>
              <a:rPr lang="en-US" sz="2800" b="1" dirty="0">
                <a:solidFill>
                  <a:srgbClr val="FFFF00"/>
                </a:solidFill>
              </a:rPr>
              <a:t>7. </a:t>
            </a:r>
            <a:r>
              <a:rPr lang="en-US" sz="2800" b="1" dirty="0" err="1">
                <a:solidFill>
                  <a:srgbClr val="FFFF00"/>
                </a:solidFill>
              </a:rPr>
              <a:t>Memeriksa</a:t>
            </a:r>
            <a:r>
              <a:rPr lang="en-US" sz="2800" b="1" dirty="0">
                <a:solidFill>
                  <a:srgbClr val="FFFF00"/>
                </a:solidFill>
              </a:rPr>
              <a:t> </a:t>
            </a:r>
            <a:r>
              <a:rPr lang="en-US" sz="2800" b="1" dirty="0" err="1">
                <a:solidFill>
                  <a:srgbClr val="FFFF00"/>
                </a:solidFill>
              </a:rPr>
              <a:t>konsistensi</a:t>
            </a:r>
            <a:r>
              <a:rPr lang="en-US" sz="2800" b="1" dirty="0">
                <a:solidFill>
                  <a:srgbClr val="FFFF00"/>
                </a:solidFill>
              </a:rPr>
              <a:t> </a:t>
            </a:r>
            <a:r>
              <a:rPr lang="en-US" sz="2800" b="1" dirty="0" err="1">
                <a:solidFill>
                  <a:srgbClr val="FFFF00"/>
                </a:solidFill>
              </a:rPr>
              <a:t>hirarki</a:t>
            </a:r>
            <a:r>
              <a:rPr lang="en-US" sz="2800" b="1" dirty="0">
                <a:solidFill>
                  <a:srgbClr val="FFFF00"/>
                </a:solidFill>
              </a:rPr>
              <a:t>.</a:t>
            </a:r>
            <a:r>
              <a:rPr lang="en-US" sz="2800" b="1" dirty="0"/>
              <a:t> </a:t>
            </a:r>
            <a:r>
              <a:rPr lang="en-US" sz="2800" dirty="0"/>
              <a:t>Yang </a:t>
            </a:r>
            <a:r>
              <a:rPr lang="en-US" sz="2800" dirty="0" err="1"/>
              <a:t>diukur</a:t>
            </a:r>
            <a:r>
              <a:rPr lang="en-US" sz="2800" dirty="0"/>
              <a:t> </a:t>
            </a:r>
            <a:r>
              <a:rPr lang="en-US" sz="2800" dirty="0" err="1"/>
              <a:t>dalam</a:t>
            </a:r>
            <a:r>
              <a:rPr lang="en-US" sz="2800" dirty="0"/>
              <a:t> AHP </a:t>
            </a:r>
            <a:r>
              <a:rPr lang="en-US" sz="2800" dirty="0" err="1"/>
              <a:t>adalah</a:t>
            </a:r>
            <a:r>
              <a:rPr lang="en-US" sz="2800" dirty="0"/>
              <a:t> </a:t>
            </a:r>
            <a:r>
              <a:rPr lang="en-US" sz="2800" dirty="0" err="1"/>
              <a:t>rasio</a:t>
            </a:r>
            <a:r>
              <a:rPr lang="en-US" sz="2800" dirty="0"/>
              <a:t> </a:t>
            </a:r>
            <a:r>
              <a:rPr lang="en-US" sz="2800" dirty="0" err="1"/>
              <a:t>konsistensi</a:t>
            </a:r>
            <a:r>
              <a:rPr lang="en-US" sz="2800" dirty="0"/>
              <a:t> </a:t>
            </a:r>
            <a:r>
              <a:rPr lang="en-US" sz="2800" dirty="0" err="1"/>
              <a:t>dengan</a:t>
            </a:r>
            <a:r>
              <a:rPr lang="en-US" sz="2800" dirty="0"/>
              <a:t> </a:t>
            </a:r>
            <a:r>
              <a:rPr lang="en-US" sz="2800" dirty="0" err="1"/>
              <a:t>melihat</a:t>
            </a:r>
            <a:r>
              <a:rPr lang="en-US" sz="2800" dirty="0"/>
              <a:t> index </a:t>
            </a:r>
            <a:r>
              <a:rPr lang="en-US" sz="2800" dirty="0" err="1"/>
              <a:t>konsistensi</a:t>
            </a:r>
            <a:r>
              <a:rPr lang="en-US" sz="2800" dirty="0"/>
              <a:t>. </a:t>
            </a:r>
            <a:r>
              <a:rPr lang="en-US" sz="2800" dirty="0" err="1"/>
              <a:t>Konsistensi</a:t>
            </a:r>
            <a:r>
              <a:rPr lang="en-US" sz="2800" dirty="0"/>
              <a:t> yang </a:t>
            </a:r>
            <a:r>
              <a:rPr lang="en-US" sz="2800" dirty="0" err="1"/>
              <a:t>diharapkan</a:t>
            </a:r>
            <a:r>
              <a:rPr lang="en-US" sz="2800" dirty="0"/>
              <a:t> </a:t>
            </a:r>
            <a:r>
              <a:rPr lang="en-US" sz="2800" dirty="0" err="1"/>
              <a:t>adalah</a:t>
            </a:r>
            <a:r>
              <a:rPr lang="en-US" sz="2800" dirty="0"/>
              <a:t> yang </a:t>
            </a:r>
            <a:r>
              <a:rPr lang="en-US" sz="2800" dirty="0" err="1"/>
              <a:t>mendekati</a:t>
            </a:r>
            <a:r>
              <a:rPr lang="en-US" sz="2800" dirty="0"/>
              <a:t> </a:t>
            </a:r>
            <a:r>
              <a:rPr lang="en-US" sz="2800" dirty="0" err="1"/>
              <a:t>sempurna</a:t>
            </a:r>
            <a:r>
              <a:rPr lang="en-US" sz="2800" dirty="0"/>
              <a:t> agar </a:t>
            </a:r>
            <a:r>
              <a:rPr lang="en-US" sz="2800" dirty="0" err="1"/>
              <a:t>menghasilkan</a:t>
            </a:r>
            <a:r>
              <a:rPr lang="en-US" sz="2800" dirty="0"/>
              <a:t> </a:t>
            </a:r>
            <a:r>
              <a:rPr lang="en-US" sz="2800" dirty="0" err="1"/>
              <a:t>keputusan</a:t>
            </a:r>
            <a:r>
              <a:rPr lang="en-US" sz="2800" dirty="0"/>
              <a:t> yang </a:t>
            </a:r>
            <a:r>
              <a:rPr lang="en-US" sz="2800" dirty="0" err="1"/>
              <a:t>mendekati</a:t>
            </a:r>
            <a:r>
              <a:rPr lang="en-US" sz="2800" dirty="0"/>
              <a:t> valid </a:t>
            </a:r>
          </a:p>
          <a:p>
            <a:pPr marL="1257300" lvl="2" indent="-457200" algn="just">
              <a:buFont typeface="Courier New" pitchFamily="49" charset="0"/>
              <a:buChar char="o"/>
              <a:defRPr/>
            </a:pPr>
            <a:endParaRPr lang="en-US" sz="2800" dirty="0">
              <a:ea typeface="Arial" pitchFamily="34" charset="0"/>
            </a:endParaRPr>
          </a:p>
          <a:p>
            <a:pPr marL="800100" lvl="2" indent="0" algn="just">
              <a:buNone/>
              <a:defRPr/>
            </a:pPr>
            <a:endParaRPr lang="en-US" sz="2800" dirty="0">
              <a:ea typeface="Arial" pitchFamily="34" charset="0"/>
            </a:endParaRPr>
          </a:p>
        </p:txBody>
      </p:sp>
    </p:spTree>
    <p:extLst>
      <p:ext uri="{BB962C8B-B14F-4D97-AF65-F5344CB8AC3E}">
        <p14:creationId xmlns:p14="http://schemas.microsoft.com/office/powerpoint/2010/main" val="3605637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err="1">
                <a:ea typeface="ＭＳ Ｐゴシック" pitchFamily="34" charset="-128"/>
              </a:rPr>
              <a:t>Keunggulan</a:t>
            </a:r>
            <a:r>
              <a:rPr lang="en-US" sz="4800" b="1" dirty="0">
                <a:ea typeface="ＭＳ Ｐゴシック" pitchFamily="34" charset="-128"/>
              </a:rPr>
              <a:t> AHP :</a:t>
            </a:r>
            <a:br>
              <a:rPr lang="en-US" sz="4800" b="1" dirty="0">
                <a:ea typeface="ＭＳ Ｐゴシック" pitchFamily="34" charset="-128"/>
              </a:rPr>
            </a:br>
            <a:endParaRPr lang="en-US" sz="4800" b="1" dirty="0"/>
          </a:p>
        </p:txBody>
      </p:sp>
      <p:sp>
        <p:nvSpPr>
          <p:cNvPr id="3" name="Content Placeholder 2"/>
          <p:cNvSpPr>
            <a:spLocks noGrp="1"/>
          </p:cNvSpPr>
          <p:nvPr>
            <p:ph idx="1"/>
          </p:nvPr>
        </p:nvSpPr>
        <p:spPr>
          <a:xfrm>
            <a:off x="241911" y="2098879"/>
            <a:ext cx="11357191" cy="3599316"/>
          </a:xfrm>
        </p:spPr>
        <p:txBody>
          <a:bodyPr>
            <a:noAutofit/>
          </a:bodyPr>
          <a:lstStyle/>
          <a:p>
            <a:pPr marL="857250" lvl="1" indent="-457200" algn="just">
              <a:buFont typeface="Courier New" pitchFamily="49" charset="0"/>
              <a:buChar char="o"/>
              <a:defRPr/>
            </a:pPr>
            <a:r>
              <a:rPr lang="en-US" sz="4000" dirty="0">
                <a:ea typeface="Arial" pitchFamily="34" charset="0"/>
              </a:rPr>
              <a:t>Model DSS yang </a:t>
            </a:r>
            <a:r>
              <a:rPr lang="en-US" sz="4000" dirty="0" err="1">
                <a:ea typeface="Arial" pitchFamily="34" charset="0"/>
              </a:rPr>
              <a:t>mampu</a:t>
            </a:r>
            <a:r>
              <a:rPr lang="en-US" sz="4000" dirty="0">
                <a:ea typeface="Arial" pitchFamily="34" charset="0"/>
              </a:rPr>
              <a:t> </a:t>
            </a:r>
            <a:r>
              <a:rPr lang="en-US" sz="4000" dirty="0" err="1">
                <a:ea typeface="Arial" pitchFamily="34" charset="0"/>
              </a:rPr>
              <a:t>menghasilkan</a:t>
            </a:r>
            <a:r>
              <a:rPr lang="en-US" sz="4000" dirty="0">
                <a:ea typeface="Arial" pitchFamily="34" charset="0"/>
              </a:rPr>
              <a:t> </a:t>
            </a:r>
            <a:r>
              <a:rPr lang="en-US" sz="4000" dirty="0" err="1">
                <a:ea typeface="Arial" pitchFamily="34" charset="0"/>
              </a:rPr>
              <a:t>suatu</a:t>
            </a:r>
            <a:r>
              <a:rPr lang="en-US" sz="4000" dirty="0">
                <a:ea typeface="Arial" pitchFamily="34" charset="0"/>
              </a:rPr>
              <a:t> </a:t>
            </a:r>
            <a:r>
              <a:rPr lang="en-US" sz="4000" dirty="0" err="1">
                <a:ea typeface="Arial" pitchFamily="34" charset="0"/>
              </a:rPr>
              <a:t>alternatif</a:t>
            </a:r>
            <a:r>
              <a:rPr lang="en-US" sz="4000" dirty="0">
                <a:ea typeface="Arial" pitchFamily="34" charset="0"/>
              </a:rPr>
              <a:t> </a:t>
            </a:r>
            <a:r>
              <a:rPr lang="en-US" sz="4000" dirty="0" err="1">
                <a:ea typeface="Arial" pitchFamily="34" charset="0"/>
              </a:rPr>
              <a:t>keputusan</a:t>
            </a:r>
            <a:r>
              <a:rPr lang="en-US" sz="4000" dirty="0">
                <a:ea typeface="Arial" pitchFamily="34" charset="0"/>
              </a:rPr>
              <a:t> </a:t>
            </a:r>
            <a:r>
              <a:rPr lang="en-US" sz="4000" dirty="0" err="1">
                <a:ea typeface="Arial" pitchFamily="34" charset="0"/>
              </a:rPr>
              <a:t>secara</a:t>
            </a:r>
            <a:r>
              <a:rPr lang="en-US" sz="4000" dirty="0">
                <a:ea typeface="Arial" pitchFamily="34" charset="0"/>
              </a:rPr>
              <a:t> </a:t>
            </a:r>
            <a:r>
              <a:rPr lang="en-US" sz="4000" dirty="0" err="1">
                <a:ea typeface="Arial" pitchFamily="34" charset="0"/>
              </a:rPr>
              <a:t>terstruktur</a:t>
            </a:r>
            <a:r>
              <a:rPr lang="en-US" sz="4000" dirty="0">
                <a:ea typeface="Arial" pitchFamily="34" charset="0"/>
              </a:rPr>
              <a:t>.</a:t>
            </a:r>
          </a:p>
          <a:p>
            <a:pPr marL="857250" lvl="1" indent="-457200" algn="just">
              <a:buFont typeface="Courier New" pitchFamily="49" charset="0"/>
              <a:buChar char="o"/>
              <a:defRPr/>
            </a:pPr>
            <a:r>
              <a:rPr lang="en-US" sz="4000" dirty="0" err="1">
                <a:ea typeface="Arial" pitchFamily="34" charset="0"/>
              </a:rPr>
              <a:t>Adanya</a:t>
            </a:r>
            <a:r>
              <a:rPr lang="en-US" sz="4000" dirty="0">
                <a:ea typeface="Arial" pitchFamily="34" charset="0"/>
              </a:rPr>
              <a:t> </a:t>
            </a:r>
            <a:r>
              <a:rPr lang="en-US" sz="4000" dirty="0" err="1">
                <a:ea typeface="Arial" pitchFamily="34" charset="0"/>
              </a:rPr>
              <a:t>skema</a:t>
            </a:r>
            <a:r>
              <a:rPr lang="en-US" sz="4000" dirty="0">
                <a:ea typeface="Arial" pitchFamily="34" charset="0"/>
              </a:rPr>
              <a:t> </a:t>
            </a:r>
            <a:r>
              <a:rPr lang="en-US" sz="4000" dirty="0" err="1">
                <a:ea typeface="Arial" pitchFamily="34" charset="0"/>
              </a:rPr>
              <a:t>hierarki</a:t>
            </a:r>
            <a:r>
              <a:rPr lang="en-US" sz="4000" dirty="0">
                <a:ea typeface="Arial" pitchFamily="34" charset="0"/>
              </a:rPr>
              <a:t> </a:t>
            </a:r>
            <a:r>
              <a:rPr lang="en-US" sz="4000" dirty="0" err="1">
                <a:ea typeface="Arial" pitchFamily="34" charset="0"/>
              </a:rPr>
              <a:t>hingga</a:t>
            </a:r>
            <a:r>
              <a:rPr lang="en-US" sz="4000" dirty="0">
                <a:ea typeface="Arial" pitchFamily="34" charset="0"/>
              </a:rPr>
              <a:t> proses </a:t>
            </a:r>
            <a:r>
              <a:rPr lang="en-US" sz="4000" dirty="0" err="1">
                <a:ea typeface="Arial" pitchFamily="34" charset="0"/>
              </a:rPr>
              <a:t>kalkulasi</a:t>
            </a:r>
            <a:r>
              <a:rPr lang="en-US" sz="4000" dirty="0">
                <a:ea typeface="Arial" pitchFamily="34" charset="0"/>
              </a:rPr>
              <a:t> yang </a:t>
            </a:r>
            <a:r>
              <a:rPr lang="en-US" sz="4000" dirty="0" err="1">
                <a:ea typeface="Arial" pitchFamily="34" charset="0"/>
              </a:rPr>
              <a:t>didasarkan</a:t>
            </a:r>
            <a:r>
              <a:rPr lang="en-US" sz="4000" dirty="0">
                <a:ea typeface="Arial" pitchFamily="34" charset="0"/>
              </a:rPr>
              <a:t> </a:t>
            </a:r>
            <a:r>
              <a:rPr lang="en-US" sz="4000" dirty="0" err="1">
                <a:ea typeface="Arial" pitchFamily="34" charset="0"/>
              </a:rPr>
              <a:t>pada</a:t>
            </a:r>
            <a:r>
              <a:rPr lang="en-US" sz="4000" dirty="0">
                <a:ea typeface="Arial" pitchFamily="34" charset="0"/>
              </a:rPr>
              <a:t> </a:t>
            </a:r>
            <a:r>
              <a:rPr lang="en-US" sz="4000" dirty="0" err="1">
                <a:ea typeface="Arial" pitchFamily="34" charset="0"/>
              </a:rPr>
              <a:t>konsistensi</a:t>
            </a:r>
            <a:r>
              <a:rPr lang="en-US" sz="4000" dirty="0">
                <a:ea typeface="Arial" pitchFamily="34" charset="0"/>
              </a:rPr>
              <a:t> data yang </a:t>
            </a:r>
            <a:r>
              <a:rPr lang="en-US" sz="4000" dirty="0" err="1">
                <a:ea typeface="Arial" pitchFamily="34" charset="0"/>
              </a:rPr>
              <a:t>diberikan</a:t>
            </a:r>
            <a:r>
              <a:rPr lang="en-US" sz="4000" dirty="0">
                <a:ea typeface="Arial" pitchFamily="34" charset="0"/>
              </a:rPr>
              <a:t>.</a:t>
            </a:r>
          </a:p>
          <a:p>
            <a:pPr marL="857250" lvl="1" indent="-457200" algn="just">
              <a:buFont typeface="Courier New" pitchFamily="49" charset="0"/>
              <a:buChar char="o"/>
              <a:defRPr/>
            </a:pPr>
            <a:r>
              <a:rPr lang="en-US" sz="4000" dirty="0" err="1">
                <a:ea typeface="Arial" pitchFamily="34" charset="0"/>
              </a:rPr>
              <a:t>Menghasilkan</a:t>
            </a:r>
            <a:r>
              <a:rPr lang="en-US" sz="4000" dirty="0">
                <a:ea typeface="Arial" pitchFamily="34" charset="0"/>
              </a:rPr>
              <a:t> </a:t>
            </a:r>
            <a:r>
              <a:rPr lang="en-US" sz="4000" dirty="0" err="1">
                <a:ea typeface="Arial" pitchFamily="34" charset="0"/>
              </a:rPr>
              <a:t>suatu</a:t>
            </a:r>
            <a:r>
              <a:rPr lang="en-US" sz="4000" dirty="0">
                <a:ea typeface="Arial" pitchFamily="34" charset="0"/>
              </a:rPr>
              <a:t> </a:t>
            </a:r>
            <a:r>
              <a:rPr lang="en-US" sz="4000" dirty="0" err="1">
                <a:ea typeface="Arial" pitchFamily="34" charset="0"/>
              </a:rPr>
              <a:t>alternatif</a:t>
            </a:r>
            <a:r>
              <a:rPr lang="en-US" sz="4000" dirty="0">
                <a:ea typeface="Arial" pitchFamily="34" charset="0"/>
              </a:rPr>
              <a:t> </a:t>
            </a:r>
            <a:r>
              <a:rPr lang="en-US" sz="4000" dirty="0" err="1">
                <a:ea typeface="Arial" pitchFamily="34" charset="0"/>
              </a:rPr>
              <a:t>keputusan</a:t>
            </a:r>
            <a:r>
              <a:rPr lang="en-US" sz="4000" dirty="0">
                <a:ea typeface="Arial" pitchFamily="34" charset="0"/>
              </a:rPr>
              <a:t> yang </a:t>
            </a:r>
            <a:r>
              <a:rPr lang="en-US" sz="4000" dirty="0" err="1">
                <a:ea typeface="Arial" pitchFamily="34" charset="0"/>
              </a:rPr>
              <a:t>komprehensif</a:t>
            </a:r>
            <a:r>
              <a:rPr lang="en-US" sz="4000" dirty="0">
                <a:ea typeface="Arial" pitchFamily="34" charset="0"/>
              </a:rPr>
              <a:t>, </a:t>
            </a:r>
            <a:r>
              <a:rPr lang="en-US" sz="4000" dirty="0" err="1">
                <a:ea typeface="Arial" pitchFamily="34" charset="0"/>
              </a:rPr>
              <a:t>rasional</a:t>
            </a:r>
            <a:r>
              <a:rPr lang="en-US" sz="4000" dirty="0">
                <a:ea typeface="Arial" pitchFamily="34" charset="0"/>
              </a:rPr>
              <a:t> </a:t>
            </a:r>
            <a:r>
              <a:rPr lang="en-US" sz="4000" dirty="0" err="1">
                <a:ea typeface="Arial" pitchFamily="34" charset="0"/>
              </a:rPr>
              <a:t>dan</a:t>
            </a:r>
            <a:r>
              <a:rPr lang="en-US" sz="4000" dirty="0">
                <a:ea typeface="Arial" pitchFamily="34" charset="0"/>
              </a:rPr>
              <a:t> optimal.</a:t>
            </a:r>
          </a:p>
          <a:p>
            <a:endParaRPr lang="en-US" sz="4000" dirty="0"/>
          </a:p>
        </p:txBody>
      </p:sp>
    </p:spTree>
    <p:extLst>
      <p:ext uri="{BB962C8B-B14F-4D97-AF65-F5344CB8AC3E}">
        <p14:creationId xmlns:p14="http://schemas.microsoft.com/office/powerpoint/2010/main" val="3504034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Kelemahan</a:t>
            </a:r>
            <a:r>
              <a:rPr lang="en-US" dirty="0"/>
              <a:t> </a:t>
            </a:r>
            <a:r>
              <a:rPr lang="en-US" dirty="0" err="1"/>
              <a:t>metode</a:t>
            </a:r>
            <a:r>
              <a:rPr lang="en-US" dirty="0"/>
              <a:t> AHP </a:t>
            </a:r>
          </a:p>
        </p:txBody>
      </p:sp>
      <p:sp>
        <p:nvSpPr>
          <p:cNvPr id="3" name="Content Placeholder 2"/>
          <p:cNvSpPr>
            <a:spLocks noGrp="1"/>
          </p:cNvSpPr>
          <p:nvPr>
            <p:ph idx="1"/>
          </p:nvPr>
        </p:nvSpPr>
        <p:spPr>
          <a:xfrm>
            <a:off x="279489" y="2136456"/>
            <a:ext cx="11912511" cy="4721543"/>
          </a:xfrm>
        </p:spPr>
        <p:txBody>
          <a:bodyPr>
            <a:normAutofit/>
          </a:bodyPr>
          <a:lstStyle/>
          <a:p>
            <a:pPr lvl="0"/>
            <a:r>
              <a:rPr lang="en-US" sz="3600" dirty="0" err="1"/>
              <a:t>Ketergantungan</a:t>
            </a:r>
            <a:r>
              <a:rPr lang="en-US" sz="3600" dirty="0"/>
              <a:t> model AHP </a:t>
            </a:r>
            <a:r>
              <a:rPr lang="en-US" sz="3600" dirty="0" err="1"/>
              <a:t>pada</a:t>
            </a:r>
            <a:r>
              <a:rPr lang="en-US" sz="3600" dirty="0"/>
              <a:t> input </a:t>
            </a:r>
            <a:r>
              <a:rPr lang="en-US" sz="3600" dirty="0" err="1"/>
              <a:t>utamanya</a:t>
            </a:r>
            <a:r>
              <a:rPr lang="en-US" sz="3600" dirty="0"/>
              <a:t>. Input </a:t>
            </a:r>
            <a:r>
              <a:rPr lang="en-US" sz="3600" dirty="0" err="1"/>
              <a:t>utama</a:t>
            </a:r>
            <a:r>
              <a:rPr lang="en-US" sz="3600" dirty="0"/>
              <a:t> </a:t>
            </a:r>
            <a:r>
              <a:rPr lang="en-US" sz="3600" dirty="0" err="1"/>
              <a:t>ini</a:t>
            </a:r>
            <a:r>
              <a:rPr lang="en-US" sz="3600" dirty="0"/>
              <a:t> </a:t>
            </a:r>
            <a:r>
              <a:rPr lang="en-US" sz="3600" dirty="0" err="1"/>
              <a:t>berupa</a:t>
            </a:r>
            <a:r>
              <a:rPr lang="en-US" sz="3600" dirty="0"/>
              <a:t> </a:t>
            </a:r>
            <a:r>
              <a:rPr lang="en-US" sz="3600" dirty="0" err="1"/>
              <a:t>persepsi</a:t>
            </a:r>
            <a:r>
              <a:rPr lang="en-US" sz="3600" dirty="0"/>
              <a:t> </a:t>
            </a:r>
            <a:r>
              <a:rPr lang="en-US" sz="3600" dirty="0" err="1"/>
              <a:t>seorang</a:t>
            </a:r>
            <a:r>
              <a:rPr lang="en-US" sz="3600" dirty="0"/>
              <a:t> </a:t>
            </a:r>
            <a:r>
              <a:rPr lang="en-US" sz="3600" dirty="0" err="1"/>
              <a:t>ahli</a:t>
            </a:r>
            <a:r>
              <a:rPr lang="en-US" sz="3600" dirty="0"/>
              <a:t> </a:t>
            </a:r>
            <a:r>
              <a:rPr lang="en-US" sz="3600" dirty="0" err="1"/>
              <a:t>sehingga</a:t>
            </a:r>
            <a:r>
              <a:rPr lang="en-US" sz="3600" dirty="0"/>
              <a:t> </a:t>
            </a:r>
            <a:r>
              <a:rPr lang="en-US" sz="3600" dirty="0" err="1"/>
              <a:t>dalam</a:t>
            </a:r>
            <a:r>
              <a:rPr lang="en-US" sz="3600" dirty="0"/>
              <a:t> </a:t>
            </a:r>
            <a:r>
              <a:rPr lang="en-US" sz="3600" dirty="0" err="1"/>
              <a:t>hal</a:t>
            </a:r>
            <a:r>
              <a:rPr lang="en-US" sz="3600" dirty="0"/>
              <a:t> </a:t>
            </a:r>
            <a:r>
              <a:rPr lang="en-US" sz="3600" dirty="0" err="1"/>
              <a:t>ini</a:t>
            </a:r>
            <a:r>
              <a:rPr lang="en-US" sz="3600" dirty="0"/>
              <a:t> </a:t>
            </a:r>
            <a:r>
              <a:rPr lang="en-US" sz="3600" dirty="0" err="1"/>
              <a:t>melibatkan</a:t>
            </a:r>
            <a:r>
              <a:rPr lang="en-US" sz="3600" dirty="0"/>
              <a:t> </a:t>
            </a:r>
            <a:r>
              <a:rPr lang="en-US" sz="3600" dirty="0" err="1"/>
              <a:t>subyektifitas</a:t>
            </a:r>
            <a:r>
              <a:rPr lang="en-US" sz="3600" dirty="0"/>
              <a:t> sang </a:t>
            </a:r>
            <a:r>
              <a:rPr lang="en-US" sz="3600" dirty="0" err="1"/>
              <a:t>ahli</a:t>
            </a:r>
            <a:r>
              <a:rPr lang="en-US" sz="3600" dirty="0"/>
              <a:t> </a:t>
            </a:r>
            <a:r>
              <a:rPr lang="en-US" sz="3600" dirty="0" err="1"/>
              <a:t>selain</a:t>
            </a:r>
            <a:r>
              <a:rPr lang="en-US" sz="3600" dirty="0"/>
              <a:t> </a:t>
            </a:r>
            <a:r>
              <a:rPr lang="en-US" sz="3600" dirty="0" err="1"/>
              <a:t>itu</a:t>
            </a:r>
            <a:r>
              <a:rPr lang="en-US" sz="3600" dirty="0"/>
              <a:t> </a:t>
            </a:r>
            <a:r>
              <a:rPr lang="en-US" sz="3600" dirty="0" err="1"/>
              <a:t>juga</a:t>
            </a:r>
            <a:r>
              <a:rPr lang="en-US" sz="3600" dirty="0"/>
              <a:t> model </a:t>
            </a:r>
            <a:r>
              <a:rPr lang="en-US" sz="3600" dirty="0" err="1"/>
              <a:t>menjadi</a:t>
            </a:r>
            <a:r>
              <a:rPr lang="en-US" sz="3600" dirty="0"/>
              <a:t> </a:t>
            </a:r>
            <a:r>
              <a:rPr lang="en-US" sz="3600" dirty="0" err="1"/>
              <a:t>tidak</a:t>
            </a:r>
            <a:r>
              <a:rPr lang="en-US" sz="3600" dirty="0"/>
              <a:t> </a:t>
            </a:r>
            <a:r>
              <a:rPr lang="en-US" sz="3600" dirty="0" err="1"/>
              <a:t>berarti</a:t>
            </a:r>
            <a:r>
              <a:rPr lang="en-US" sz="3600" dirty="0"/>
              <a:t> </a:t>
            </a:r>
            <a:r>
              <a:rPr lang="en-US" sz="3600" dirty="0" err="1"/>
              <a:t>jika</a:t>
            </a:r>
            <a:r>
              <a:rPr lang="en-US" sz="3600" dirty="0"/>
              <a:t> </a:t>
            </a:r>
            <a:r>
              <a:rPr lang="en-US" sz="3600" dirty="0" err="1"/>
              <a:t>ahli</a:t>
            </a:r>
            <a:r>
              <a:rPr lang="en-US" sz="3600" dirty="0"/>
              <a:t> </a:t>
            </a:r>
            <a:r>
              <a:rPr lang="en-US" sz="3600" dirty="0" err="1"/>
              <a:t>tersebut</a:t>
            </a:r>
            <a:r>
              <a:rPr lang="en-US" sz="3600" dirty="0"/>
              <a:t> </a:t>
            </a:r>
            <a:r>
              <a:rPr lang="en-US" sz="3600" dirty="0" err="1"/>
              <a:t>memberikan</a:t>
            </a:r>
            <a:r>
              <a:rPr lang="en-US" sz="3600" dirty="0"/>
              <a:t> </a:t>
            </a:r>
            <a:r>
              <a:rPr lang="en-US" sz="3600" dirty="0" err="1"/>
              <a:t>penilaian</a:t>
            </a:r>
            <a:r>
              <a:rPr lang="en-US" sz="3600" dirty="0"/>
              <a:t> yang </a:t>
            </a:r>
            <a:r>
              <a:rPr lang="en-US" sz="3600" dirty="0" err="1"/>
              <a:t>keliru</a:t>
            </a:r>
            <a:r>
              <a:rPr lang="en-US" sz="3600" dirty="0"/>
              <a:t>.</a:t>
            </a:r>
          </a:p>
          <a:p>
            <a:pPr lvl="0"/>
            <a:r>
              <a:rPr lang="en-US" sz="3600" dirty="0" err="1"/>
              <a:t>Metode</a:t>
            </a:r>
            <a:r>
              <a:rPr lang="en-US" sz="3600" dirty="0"/>
              <a:t> AHP </a:t>
            </a:r>
            <a:r>
              <a:rPr lang="en-US" sz="3600" dirty="0" err="1"/>
              <a:t>ini</a:t>
            </a:r>
            <a:r>
              <a:rPr lang="en-US" sz="3600" dirty="0"/>
              <a:t> </a:t>
            </a:r>
            <a:r>
              <a:rPr lang="en-US" sz="3600" dirty="0" err="1"/>
              <a:t>hanya</a:t>
            </a:r>
            <a:r>
              <a:rPr lang="en-US" sz="3600" dirty="0"/>
              <a:t> </a:t>
            </a:r>
            <a:r>
              <a:rPr lang="en-US" sz="3600" dirty="0" err="1"/>
              <a:t>metode</a:t>
            </a:r>
            <a:r>
              <a:rPr lang="en-US" sz="3600" dirty="0"/>
              <a:t> </a:t>
            </a:r>
            <a:r>
              <a:rPr lang="en-US" sz="3600" dirty="0" err="1"/>
              <a:t>matematis</a:t>
            </a:r>
            <a:r>
              <a:rPr lang="en-US" sz="3600" dirty="0"/>
              <a:t> </a:t>
            </a:r>
            <a:r>
              <a:rPr lang="en-US" sz="3600" dirty="0" err="1"/>
              <a:t>tanpa</a:t>
            </a:r>
            <a:r>
              <a:rPr lang="en-US" sz="3600" dirty="0"/>
              <a:t> </a:t>
            </a:r>
            <a:r>
              <a:rPr lang="en-US" sz="3600" dirty="0" err="1"/>
              <a:t>ada</a:t>
            </a:r>
            <a:r>
              <a:rPr lang="en-US" sz="3600" dirty="0"/>
              <a:t> </a:t>
            </a:r>
            <a:r>
              <a:rPr lang="en-US" sz="3600" dirty="0" err="1"/>
              <a:t>pengujian</a:t>
            </a:r>
            <a:r>
              <a:rPr lang="en-US" sz="3600" dirty="0"/>
              <a:t> </a:t>
            </a:r>
            <a:r>
              <a:rPr lang="en-US" sz="3600" dirty="0" err="1"/>
              <a:t>secara</a:t>
            </a:r>
            <a:r>
              <a:rPr lang="en-US" sz="3600" dirty="0"/>
              <a:t> </a:t>
            </a:r>
            <a:r>
              <a:rPr lang="en-US" sz="3600" dirty="0" err="1"/>
              <a:t>statistik</a:t>
            </a:r>
            <a:endParaRPr lang="en-US" sz="3600" dirty="0"/>
          </a:p>
          <a:p>
            <a:endParaRPr lang="en-US" sz="3600" dirty="0"/>
          </a:p>
        </p:txBody>
      </p:sp>
    </p:spTree>
    <p:extLst>
      <p:ext uri="{BB962C8B-B14F-4D97-AF65-F5344CB8AC3E}">
        <p14:creationId xmlns:p14="http://schemas.microsoft.com/office/powerpoint/2010/main" val="1254839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69" y="1365970"/>
            <a:ext cx="10068714" cy="1080938"/>
          </a:xfrm>
        </p:spPr>
        <p:txBody>
          <a:bodyPr>
            <a:normAutofit fontScale="90000"/>
          </a:bodyPr>
          <a:lstStyle/>
          <a:p>
            <a:r>
              <a:rPr lang="en-US" dirty="0" err="1"/>
              <a:t>Beberapa</a:t>
            </a:r>
            <a:r>
              <a:rPr lang="en-US" dirty="0"/>
              <a:t> </a:t>
            </a:r>
            <a:r>
              <a:rPr lang="en-US" dirty="0" err="1"/>
              <a:t>contoh</a:t>
            </a:r>
            <a:r>
              <a:rPr lang="en-US" dirty="0"/>
              <a:t> </a:t>
            </a:r>
            <a:r>
              <a:rPr lang="en-US" dirty="0" err="1"/>
              <a:t>aplikasi</a:t>
            </a:r>
            <a:r>
              <a:rPr lang="en-US" dirty="0"/>
              <a:t> AHP </a:t>
            </a:r>
            <a:r>
              <a:rPr lang="en-US" dirty="0" err="1"/>
              <a:t>adalah</a:t>
            </a:r>
            <a:r>
              <a:rPr lang="en-US" dirty="0"/>
              <a:t> </a:t>
            </a:r>
            <a:r>
              <a:rPr lang="en-US" dirty="0" err="1"/>
              <a:t>sebagai</a:t>
            </a:r>
            <a:r>
              <a:rPr lang="en-US" dirty="0"/>
              <a:t> </a:t>
            </a:r>
            <a:r>
              <a:rPr lang="en-US" dirty="0" err="1"/>
              <a:t>berikut</a:t>
            </a:r>
            <a:r>
              <a:rPr lang="en-US" dirty="0"/>
              <a:t>:</a:t>
            </a:r>
            <a:br>
              <a:rPr lang="en-US" dirty="0"/>
            </a:br>
            <a:endParaRPr lang="en-US" dirty="0"/>
          </a:p>
        </p:txBody>
      </p:sp>
      <p:sp>
        <p:nvSpPr>
          <p:cNvPr id="3" name="Content Placeholder 2"/>
          <p:cNvSpPr>
            <a:spLocks noGrp="1"/>
          </p:cNvSpPr>
          <p:nvPr>
            <p:ph idx="1"/>
          </p:nvPr>
        </p:nvSpPr>
        <p:spPr>
          <a:xfrm>
            <a:off x="225469" y="2098879"/>
            <a:ext cx="11966531" cy="4759121"/>
          </a:xfrm>
        </p:spPr>
        <p:txBody>
          <a:bodyPr>
            <a:normAutofit fontScale="85000" lnSpcReduction="20000"/>
          </a:bodyPr>
          <a:lstStyle/>
          <a:p>
            <a:pPr lvl="0"/>
            <a:r>
              <a:rPr lang="en-US" dirty="0" err="1"/>
              <a:t>Membuat</a:t>
            </a:r>
            <a:r>
              <a:rPr lang="en-US" dirty="0"/>
              <a:t> </a:t>
            </a:r>
            <a:r>
              <a:rPr lang="en-US" dirty="0" err="1"/>
              <a:t>suatu</a:t>
            </a:r>
            <a:r>
              <a:rPr lang="en-US" dirty="0"/>
              <a:t> set </a:t>
            </a:r>
            <a:r>
              <a:rPr lang="en-US" dirty="0" err="1"/>
              <a:t>alternatif</a:t>
            </a:r>
            <a:r>
              <a:rPr lang="en-US" dirty="0"/>
              <a:t>;</a:t>
            </a:r>
          </a:p>
          <a:p>
            <a:pPr lvl="0"/>
            <a:r>
              <a:rPr lang="en-US" dirty="0" err="1"/>
              <a:t>Perencanaan</a:t>
            </a:r>
            <a:endParaRPr lang="en-US" dirty="0"/>
          </a:p>
          <a:p>
            <a:pPr lvl="0"/>
            <a:r>
              <a:rPr lang="en-US" dirty="0" err="1"/>
              <a:t>Menentukan</a:t>
            </a:r>
            <a:r>
              <a:rPr lang="en-US" dirty="0"/>
              <a:t> </a:t>
            </a:r>
            <a:r>
              <a:rPr lang="en-US" dirty="0" err="1"/>
              <a:t>prioritas</a:t>
            </a:r>
            <a:r>
              <a:rPr lang="en-US" dirty="0"/>
              <a:t>;</a:t>
            </a:r>
          </a:p>
          <a:p>
            <a:pPr lvl="0"/>
            <a:r>
              <a:rPr lang="en-US" dirty="0" err="1"/>
              <a:t>Memilih</a:t>
            </a:r>
            <a:r>
              <a:rPr lang="en-US" dirty="0"/>
              <a:t> </a:t>
            </a:r>
            <a:r>
              <a:rPr lang="en-US" dirty="0" err="1"/>
              <a:t>kebijakan</a:t>
            </a:r>
            <a:r>
              <a:rPr lang="en-US" dirty="0"/>
              <a:t> </a:t>
            </a:r>
            <a:r>
              <a:rPr lang="en-US" dirty="0" err="1"/>
              <a:t>terbaik</a:t>
            </a:r>
            <a:r>
              <a:rPr lang="en-US" dirty="0"/>
              <a:t> </a:t>
            </a:r>
            <a:r>
              <a:rPr lang="en-US" dirty="0" err="1"/>
              <a:t>setelah</a:t>
            </a:r>
            <a:r>
              <a:rPr lang="en-US" dirty="0"/>
              <a:t> </a:t>
            </a:r>
            <a:r>
              <a:rPr lang="en-US" dirty="0" err="1"/>
              <a:t>menemukan</a:t>
            </a:r>
            <a:r>
              <a:rPr lang="en-US" dirty="0"/>
              <a:t> </a:t>
            </a:r>
            <a:r>
              <a:rPr lang="en-US" dirty="0" err="1"/>
              <a:t>satu</a:t>
            </a:r>
            <a:r>
              <a:rPr lang="en-US" dirty="0"/>
              <a:t> set </a:t>
            </a:r>
            <a:r>
              <a:rPr lang="en-US" dirty="0" err="1"/>
              <a:t>alternatif</a:t>
            </a:r>
            <a:r>
              <a:rPr lang="en-US" dirty="0"/>
              <a:t>;</a:t>
            </a:r>
          </a:p>
          <a:p>
            <a:pPr lvl="0"/>
            <a:r>
              <a:rPr lang="en-US" dirty="0" err="1"/>
              <a:t>Alokasi</a:t>
            </a:r>
            <a:r>
              <a:rPr lang="en-US" dirty="0"/>
              <a:t> </a:t>
            </a:r>
            <a:r>
              <a:rPr lang="en-US" dirty="0" err="1"/>
              <a:t>sumber</a:t>
            </a:r>
            <a:r>
              <a:rPr lang="en-US" dirty="0"/>
              <a:t> </a:t>
            </a:r>
            <a:r>
              <a:rPr lang="en-US" dirty="0" err="1"/>
              <a:t>daya</a:t>
            </a:r>
            <a:endParaRPr lang="en-US" dirty="0"/>
          </a:p>
          <a:p>
            <a:pPr lvl="0"/>
            <a:r>
              <a:rPr lang="en-US" dirty="0" err="1"/>
              <a:t>Menentukan</a:t>
            </a:r>
            <a:r>
              <a:rPr lang="en-US" dirty="0"/>
              <a:t> </a:t>
            </a:r>
            <a:r>
              <a:rPr lang="en-US" dirty="0" err="1"/>
              <a:t>kebutuhan</a:t>
            </a:r>
            <a:r>
              <a:rPr lang="en-US" dirty="0"/>
              <a:t>/</a:t>
            </a:r>
            <a:r>
              <a:rPr lang="en-US" dirty="0" err="1"/>
              <a:t>persyaratan</a:t>
            </a:r>
            <a:r>
              <a:rPr lang="en-US" dirty="0"/>
              <a:t>;</a:t>
            </a:r>
          </a:p>
          <a:p>
            <a:pPr lvl="0"/>
            <a:r>
              <a:rPr lang="en-US" dirty="0" err="1"/>
              <a:t>Memprediksi</a:t>
            </a:r>
            <a:r>
              <a:rPr lang="en-US" dirty="0"/>
              <a:t> outcome;</a:t>
            </a:r>
          </a:p>
          <a:p>
            <a:pPr lvl="0"/>
            <a:r>
              <a:rPr lang="en-US" dirty="0" err="1"/>
              <a:t>Merancang</a:t>
            </a:r>
            <a:r>
              <a:rPr lang="en-US" dirty="0"/>
              <a:t> </a:t>
            </a:r>
            <a:r>
              <a:rPr lang="en-US" dirty="0" err="1"/>
              <a:t>sistem</a:t>
            </a:r>
            <a:r>
              <a:rPr lang="en-US" dirty="0"/>
              <a:t>;</a:t>
            </a:r>
          </a:p>
          <a:p>
            <a:pPr lvl="0"/>
            <a:r>
              <a:rPr lang="en-US" dirty="0" err="1"/>
              <a:t>Mengukur</a:t>
            </a:r>
            <a:r>
              <a:rPr lang="en-US" dirty="0"/>
              <a:t> </a:t>
            </a:r>
            <a:r>
              <a:rPr lang="en-US" dirty="0" err="1"/>
              <a:t>performa</a:t>
            </a:r>
            <a:r>
              <a:rPr lang="en-US" dirty="0"/>
              <a:t>;</a:t>
            </a:r>
          </a:p>
          <a:p>
            <a:pPr lvl="0"/>
            <a:r>
              <a:rPr lang="en-US" dirty="0" err="1"/>
              <a:t>Memastikan</a:t>
            </a:r>
            <a:r>
              <a:rPr lang="en-US" dirty="0"/>
              <a:t> </a:t>
            </a:r>
            <a:r>
              <a:rPr lang="en-US" dirty="0" err="1"/>
              <a:t>stabilitas</a:t>
            </a:r>
            <a:r>
              <a:rPr lang="en-US" dirty="0"/>
              <a:t> </a:t>
            </a:r>
            <a:r>
              <a:rPr lang="en-US" dirty="0" err="1"/>
              <a:t>sistem</a:t>
            </a:r>
            <a:r>
              <a:rPr lang="en-US" dirty="0"/>
              <a:t>;</a:t>
            </a:r>
          </a:p>
          <a:p>
            <a:pPr lvl="0"/>
            <a:r>
              <a:rPr lang="en-US" dirty="0" err="1"/>
              <a:t>Optimasi</a:t>
            </a:r>
            <a:r>
              <a:rPr lang="en-US" dirty="0"/>
              <a:t>;</a:t>
            </a:r>
          </a:p>
          <a:p>
            <a:pPr lvl="0"/>
            <a:r>
              <a:rPr lang="en-US" dirty="0" err="1"/>
              <a:t>Penyelesaian</a:t>
            </a:r>
            <a:r>
              <a:rPr lang="en-US" dirty="0"/>
              <a:t> </a:t>
            </a:r>
            <a:r>
              <a:rPr lang="en-US" dirty="0" err="1"/>
              <a:t>konflik</a:t>
            </a:r>
            <a:endParaRPr lang="en-US" dirty="0"/>
          </a:p>
          <a:p>
            <a:endParaRPr lang="en-US" dirty="0"/>
          </a:p>
        </p:txBody>
      </p:sp>
    </p:spTree>
    <p:extLst>
      <p:ext uri="{BB962C8B-B14F-4D97-AF65-F5344CB8AC3E}">
        <p14:creationId xmlns:p14="http://schemas.microsoft.com/office/powerpoint/2010/main" val="2830577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2875" y="2846895"/>
            <a:ext cx="12049125" cy="2264102"/>
          </a:xfrm>
        </p:spPr>
        <p:txBody>
          <a:bodyPr>
            <a:normAutofit fontScale="90000"/>
          </a:bodyPr>
          <a:lstStyle/>
          <a:p>
            <a:pPr algn="l"/>
            <a:r>
              <a:rPr lang="en-US" b="1" dirty="0" err="1">
                <a:solidFill>
                  <a:schemeClr val="bg1"/>
                </a:solidFill>
              </a:rPr>
              <a:t>Dalam</a:t>
            </a:r>
            <a:r>
              <a:rPr lang="en-US" b="1" dirty="0">
                <a:solidFill>
                  <a:schemeClr val="bg1"/>
                </a:solidFill>
              </a:rPr>
              <a:t> </a:t>
            </a:r>
            <a:r>
              <a:rPr lang="en-US" b="1" dirty="0" err="1">
                <a:solidFill>
                  <a:schemeClr val="bg1"/>
                </a:solidFill>
              </a:rPr>
              <a:t>memilih</a:t>
            </a:r>
            <a:r>
              <a:rPr lang="en-US" b="1" dirty="0">
                <a:solidFill>
                  <a:schemeClr val="bg1"/>
                </a:solidFill>
              </a:rPr>
              <a:t> </a:t>
            </a:r>
            <a:r>
              <a:rPr lang="en-US" b="1" dirty="0" err="1">
                <a:solidFill>
                  <a:schemeClr val="bg1"/>
                </a:solidFill>
              </a:rPr>
              <a:t>istri</a:t>
            </a:r>
            <a:r>
              <a:rPr lang="en-US" b="1" dirty="0">
                <a:solidFill>
                  <a:schemeClr val="bg1"/>
                </a:solidFill>
              </a:rPr>
              <a:t>, Si JOKO </a:t>
            </a:r>
            <a:r>
              <a:rPr lang="en-US" b="1" dirty="0" err="1">
                <a:solidFill>
                  <a:schemeClr val="bg1"/>
                </a:solidFill>
              </a:rPr>
              <a:t>mempunyai</a:t>
            </a:r>
            <a:r>
              <a:rPr lang="en-US" b="1" dirty="0">
                <a:solidFill>
                  <a:schemeClr val="bg1"/>
                </a:solidFill>
              </a:rPr>
              <a:t> 3 </a:t>
            </a:r>
            <a:r>
              <a:rPr lang="en-US" b="1" dirty="0" err="1">
                <a:solidFill>
                  <a:schemeClr val="bg1"/>
                </a:solidFill>
              </a:rPr>
              <a:t>kriteria</a:t>
            </a:r>
            <a:r>
              <a:rPr lang="en-US" b="1" dirty="0">
                <a:solidFill>
                  <a:schemeClr val="bg1"/>
                </a:solidFill>
              </a:rPr>
              <a:t>, </a:t>
            </a:r>
            <a:r>
              <a:rPr lang="en-US" b="1" dirty="0" err="1">
                <a:solidFill>
                  <a:schemeClr val="bg1"/>
                </a:solidFill>
              </a:rPr>
              <a:t>yaitu</a:t>
            </a:r>
            <a:r>
              <a:rPr lang="en-US" b="1" dirty="0">
                <a:solidFill>
                  <a:schemeClr val="bg1"/>
                </a:solidFill>
              </a:rPr>
              <a:t> :  </a:t>
            </a:r>
            <a:br>
              <a:rPr lang="en-US" b="1" dirty="0">
                <a:solidFill>
                  <a:schemeClr val="bg1"/>
                </a:solidFill>
              </a:rPr>
            </a:br>
            <a:br>
              <a:rPr lang="en-US" b="1" dirty="0">
                <a:solidFill>
                  <a:schemeClr val="bg1"/>
                </a:solidFill>
              </a:rPr>
            </a:br>
            <a:r>
              <a:rPr lang="en-US" dirty="0" err="1"/>
              <a:t>ceweknya</a:t>
            </a:r>
            <a:r>
              <a:rPr lang="en-US" dirty="0"/>
              <a:t> </a:t>
            </a:r>
            <a:r>
              <a:rPr lang="en-US" dirty="0" err="1"/>
              <a:t>harus</a:t>
            </a:r>
            <a:r>
              <a:rPr lang="en-US" dirty="0"/>
              <a:t> </a:t>
            </a:r>
            <a:r>
              <a:rPr lang="en-US" b="1" dirty="0" err="1">
                <a:solidFill>
                  <a:srgbClr val="FFFF00"/>
                </a:solidFill>
              </a:rPr>
              <a:t>cantik</a:t>
            </a:r>
            <a:r>
              <a:rPr lang="en-US" b="1" dirty="0">
                <a:solidFill>
                  <a:srgbClr val="FFFF00"/>
                </a:solidFill>
              </a:rPr>
              <a:t>,</a:t>
            </a:r>
            <a:r>
              <a:rPr lang="en-US" dirty="0"/>
              <a:t> </a:t>
            </a:r>
            <a:r>
              <a:rPr lang="en-US" b="1" dirty="0" err="1">
                <a:solidFill>
                  <a:srgbClr val="FFFF00"/>
                </a:solidFill>
              </a:rPr>
              <a:t>memiliki</a:t>
            </a:r>
            <a:r>
              <a:rPr lang="en-US" b="1" dirty="0">
                <a:solidFill>
                  <a:srgbClr val="FFFF00"/>
                </a:solidFill>
              </a:rPr>
              <a:t> </a:t>
            </a:r>
            <a:r>
              <a:rPr lang="en-US" b="1" dirty="0" err="1">
                <a:solidFill>
                  <a:srgbClr val="FFFF00"/>
                </a:solidFill>
              </a:rPr>
              <a:t>tingkat</a:t>
            </a:r>
            <a:r>
              <a:rPr lang="en-US" b="1" dirty="0">
                <a:solidFill>
                  <a:srgbClr val="FFFF00"/>
                </a:solidFill>
              </a:rPr>
              <a:t> </a:t>
            </a:r>
            <a:r>
              <a:rPr lang="en-US" b="1" dirty="0" err="1">
                <a:solidFill>
                  <a:srgbClr val="FFFF00"/>
                </a:solidFill>
              </a:rPr>
              <a:t>pendidikan</a:t>
            </a:r>
            <a:r>
              <a:rPr lang="en-US" b="1" dirty="0">
                <a:solidFill>
                  <a:srgbClr val="FFFF00"/>
                </a:solidFill>
              </a:rPr>
              <a:t> yang </a:t>
            </a:r>
            <a:r>
              <a:rPr lang="en-US" b="1" dirty="0" err="1">
                <a:solidFill>
                  <a:srgbClr val="FFFF00"/>
                </a:solidFill>
              </a:rPr>
              <a:t>tinggi</a:t>
            </a:r>
            <a:r>
              <a:rPr lang="en-US" b="1" dirty="0">
                <a:solidFill>
                  <a:srgbClr val="FFFF00"/>
                </a:solidFill>
              </a:rPr>
              <a:t> </a:t>
            </a:r>
            <a:r>
              <a:rPr lang="en-US" dirty="0"/>
              <a:t>dan </a:t>
            </a:r>
            <a:r>
              <a:rPr lang="en-US" dirty="0" err="1"/>
              <a:t>berasal</a:t>
            </a:r>
            <a:r>
              <a:rPr lang="en-US" dirty="0"/>
              <a:t> </a:t>
            </a:r>
            <a:r>
              <a:rPr lang="en-US" dirty="0" err="1"/>
              <a:t>dari</a:t>
            </a:r>
            <a:r>
              <a:rPr lang="en-US" dirty="0"/>
              <a:t> </a:t>
            </a:r>
            <a:r>
              <a:rPr lang="en-US" dirty="0" err="1"/>
              <a:t>keluarga</a:t>
            </a:r>
            <a:r>
              <a:rPr lang="en-US" dirty="0"/>
              <a:t> yang </a:t>
            </a:r>
            <a:r>
              <a:rPr lang="en-US" b="1" dirty="0">
                <a:solidFill>
                  <a:srgbClr val="FFFF00"/>
                </a:solidFill>
              </a:rPr>
              <a:t>kaya</a:t>
            </a:r>
            <a:r>
              <a:rPr lang="en-US" dirty="0"/>
              <a:t>.  </a:t>
            </a:r>
            <a:r>
              <a:rPr lang="en-US" dirty="0" err="1"/>
              <a:t>Saat</a:t>
            </a:r>
            <a:r>
              <a:rPr lang="en-US" dirty="0"/>
              <a:t> </a:t>
            </a:r>
            <a:r>
              <a:rPr lang="en-US" dirty="0" err="1"/>
              <a:t>ini</a:t>
            </a:r>
            <a:r>
              <a:rPr lang="en-US" dirty="0"/>
              <a:t> </a:t>
            </a:r>
            <a:r>
              <a:rPr lang="en-US" dirty="0" err="1"/>
              <a:t>Bangbang</a:t>
            </a:r>
            <a:r>
              <a:rPr lang="en-US" dirty="0"/>
              <a:t> </a:t>
            </a:r>
            <a:r>
              <a:rPr lang="en-US" dirty="0" err="1"/>
              <a:t>memiliki</a:t>
            </a:r>
            <a:r>
              <a:rPr lang="en-US" dirty="0"/>
              <a:t> 3 orang </a:t>
            </a:r>
            <a:r>
              <a:rPr lang="en-US" dirty="0" err="1"/>
              <a:t>pacar</a:t>
            </a:r>
            <a:r>
              <a:rPr lang="en-US" dirty="0"/>
              <a:t>, yang </a:t>
            </a:r>
            <a:r>
              <a:rPr lang="en-US" dirty="0" err="1"/>
              <a:t>dipacarinya</a:t>
            </a:r>
            <a:r>
              <a:rPr lang="en-US" dirty="0"/>
              <a:t> </a:t>
            </a:r>
            <a:r>
              <a:rPr lang="en-US" dirty="0" err="1"/>
              <a:t>secara</a:t>
            </a:r>
            <a:r>
              <a:rPr lang="en-US" dirty="0"/>
              <a:t> </a:t>
            </a:r>
            <a:r>
              <a:rPr lang="en-US" dirty="0" err="1"/>
              <a:t>bergantian</a:t>
            </a:r>
            <a:r>
              <a:rPr lang="en-US" dirty="0"/>
              <a:t> </a:t>
            </a:r>
            <a:r>
              <a:rPr lang="en-US" b="1" dirty="0" err="1"/>
              <a:t>Fitri</a:t>
            </a:r>
            <a:r>
              <a:rPr lang="en-US" dirty="0"/>
              <a:t>, </a:t>
            </a:r>
            <a:r>
              <a:rPr lang="en-US" b="1" dirty="0" err="1"/>
              <a:t>Yayu</a:t>
            </a:r>
            <a:r>
              <a:rPr lang="en-US" dirty="0"/>
              <a:t> </a:t>
            </a:r>
            <a:r>
              <a:rPr lang="en-US" dirty="0" err="1"/>
              <a:t>dan</a:t>
            </a:r>
            <a:r>
              <a:rPr lang="en-US" dirty="0"/>
              <a:t> </a:t>
            </a:r>
            <a:r>
              <a:rPr lang="en-US" b="1" dirty="0"/>
              <a:t>Grace</a:t>
            </a:r>
            <a:r>
              <a:rPr lang="en-US" dirty="0"/>
              <a:t>.</a:t>
            </a:r>
          </a:p>
        </p:txBody>
      </p:sp>
    </p:spTree>
    <p:extLst>
      <p:ext uri="{BB962C8B-B14F-4D97-AF65-F5344CB8AC3E}">
        <p14:creationId xmlns:p14="http://schemas.microsoft.com/office/powerpoint/2010/main" val="323792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847B39-33BF-4715-8B8C-63CEA72E2058}"/>
              </a:ext>
            </a:extLst>
          </p:cNvPr>
          <p:cNvSpPr txBox="1"/>
          <p:nvPr/>
        </p:nvSpPr>
        <p:spPr>
          <a:xfrm>
            <a:off x="213674" y="1926467"/>
            <a:ext cx="11764652" cy="3970318"/>
          </a:xfrm>
          <a:prstGeom prst="rect">
            <a:avLst/>
          </a:prstGeom>
          <a:noFill/>
        </p:spPr>
        <p:txBody>
          <a:bodyPr wrap="square">
            <a:spAutoFit/>
          </a:bodyPr>
          <a:lstStyle/>
          <a:p>
            <a:pPr marL="0" indent="0">
              <a:buNone/>
            </a:pPr>
            <a:r>
              <a:rPr lang="en-US" sz="3600" dirty="0">
                <a:solidFill>
                  <a:srgbClr val="002060"/>
                </a:solidFill>
              </a:rPr>
              <a:t>Yang </a:t>
            </a:r>
            <a:r>
              <a:rPr lang="en-US" sz="3600" dirty="0" err="1">
                <a:solidFill>
                  <a:srgbClr val="002060"/>
                </a:solidFill>
              </a:rPr>
              <a:t>pertama</a:t>
            </a:r>
            <a:r>
              <a:rPr lang="en-US" sz="3600" dirty="0">
                <a:solidFill>
                  <a:srgbClr val="002060"/>
                </a:solidFill>
              </a:rPr>
              <a:t> yang </a:t>
            </a:r>
            <a:r>
              <a:rPr lang="en-US" sz="3600" dirty="0" err="1">
                <a:solidFill>
                  <a:srgbClr val="002060"/>
                </a:solidFill>
              </a:rPr>
              <a:t>dilakukan</a:t>
            </a:r>
            <a:r>
              <a:rPr lang="en-US" sz="3600" dirty="0">
                <a:solidFill>
                  <a:srgbClr val="002060"/>
                </a:solidFill>
              </a:rPr>
              <a:t> JOKO </a:t>
            </a:r>
            <a:r>
              <a:rPr lang="en-US" sz="3600" dirty="0" err="1">
                <a:solidFill>
                  <a:srgbClr val="002060"/>
                </a:solidFill>
              </a:rPr>
              <a:t>adalah</a:t>
            </a:r>
            <a:r>
              <a:rPr lang="en-US" sz="3600" dirty="0">
                <a:solidFill>
                  <a:srgbClr val="002060"/>
                </a:solidFill>
              </a:rPr>
              <a:t> </a:t>
            </a:r>
            <a:r>
              <a:rPr lang="en-US" sz="3600" dirty="0" err="1">
                <a:solidFill>
                  <a:srgbClr val="002060"/>
                </a:solidFill>
              </a:rPr>
              <a:t>menentukan</a:t>
            </a:r>
            <a:r>
              <a:rPr lang="en-US" sz="3600" dirty="0">
                <a:solidFill>
                  <a:srgbClr val="002060"/>
                </a:solidFill>
              </a:rPr>
              <a:t> </a:t>
            </a:r>
            <a:r>
              <a:rPr lang="en-US" sz="3600" dirty="0" err="1">
                <a:solidFill>
                  <a:srgbClr val="002060"/>
                </a:solidFill>
              </a:rPr>
              <a:t>bobot</a:t>
            </a:r>
            <a:r>
              <a:rPr lang="en-US" sz="3600" dirty="0">
                <a:solidFill>
                  <a:srgbClr val="002060"/>
                </a:solidFill>
              </a:rPr>
              <a:t> </a:t>
            </a:r>
            <a:r>
              <a:rPr lang="en-US" sz="3600" dirty="0" err="1">
                <a:solidFill>
                  <a:srgbClr val="002060"/>
                </a:solidFill>
              </a:rPr>
              <a:t>untuk</a:t>
            </a:r>
            <a:r>
              <a:rPr lang="en-US" sz="3600" dirty="0">
                <a:solidFill>
                  <a:srgbClr val="002060"/>
                </a:solidFill>
              </a:rPr>
              <a:t> </a:t>
            </a:r>
            <a:r>
              <a:rPr lang="en-US" sz="3600" dirty="0" err="1">
                <a:solidFill>
                  <a:srgbClr val="002060"/>
                </a:solidFill>
              </a:rPr>
              <a:t>ketiga</a:t>
            </a:r>
            <a:r>
              <a:rPr lang="en-US" sz="3600" dirty="0">
                <a:solidFill>
                  <a:srgbClr val="002060"/>
                </a:solidFill>
              </a:rPr>
              <a:t> </a:t>
            </a:r>
            <a:r>
              <a:rPr lang="en-US" sz="3600" dirty="0" err="1">
                <a:solidFill>
                  <a:srgbClr val="002060"/>
                </a:solidFill>
              </a:rPr>
              <a:t>kriteria</a:t>
            </a:r>
            <a:r>
              <a:rPr lang="en-US" sz="3600" dirty="0">
                <a:solidFill>
                  <a:srgbClr val="002060"/>
                </a:solidFill>
              </a:rPr>
              <a:t>, mana yang paling </a:t>
            </a:r>
            <a:r>
              <a:rPr lang="en-US" sz="3600" dirty="0" err="1">
                <a:solidFill>
                  <a:srgbClr val="002060"/>
                </a:solidFill>
              </a:rPr>
              <a:t>penting</a:t>
            </a:r>
            <a:r>
              <a:rPr lang="en-US" sz="3600" dirty="0">
                <a:solidFill>
                  <a:srgbClr val="002060"/>
                </a:solidFill>
              </a:rPr>
              <a:t>.  </a:t>
            </a:r>
            <a:r>
              <a:rPr lang="en-US" sz="3600" dirty="0" err="1">
                <a:solidFill>
                  <a:srgbClr val="002060"/>
                </a:solidFill>
              </a:rPr>
              <a:t>Ketiga</a:t>
            </a:r>
            <a:r>
              <a:rPr lang="en-US" sz="3600" dirty="0">
                <a:solidFill>
                  <a:srgbClr val="002060"/>
                </a:solidFill>
              </a:rPr>
              <a:t> </a:t>
            </a:r>
            <a:r>
              <a:rPr lang="en-US" sz="3600" dirty="0" err="1">
                <a:solidFill>
                  <a:srgbClr val="002060"/>
                </a:solidFill>
              </a:rPr>
              <a:t>kriteria</a:t>
            </a:r>
            <a:r>
              <a:rPr lang="en-US" sz="3600" dirty="0">
                <a:solidFill>
                  <a:srgbClr val="002060"/>
                </a:solidFill>
              </a:rPr>
              <a:t> </a:t>
            </a:r>
            <a:r>
              <a:rPr lang="en-US" sz="3600" dirty="0" err="1">
                <a:solidFill>
                  <a:srgbClr val="002060"/>
                </a:solidFill>
              </a:rPr>
              <a:t>tersebut</a:t>
            </a:r>
            <a:r>
              <a:rPr lang="en-US" sz="3600" dirty="0">
                <a:solidFill>
                  <a:srgbClr val="002060"/>
                </a:solidFill>
              </a:rPr>
              <a:t> di-</a:t>
            </a:r>
            <a:r>
              <a:rPr lang="en-US" sz="3600" dirty="0" err="1">
                <a:solidFill>
                  <a:srgbClr val="002060"/>
                </a:solidFill>
              </a:rPr>
              <a:t>adu</a:t>
            </a:r>
            <a:r>
              <a:rPr lang="en-US" sz="3600" dirty="0">
                <a:solidFill>
                  <a:srgbClr val="002060"/>
                </a:solidFill>
              </a:rPr>
              <a:t> </a:t>
            </a:r>
            <a:r>
              <a:rPr lang="en-US" sz="3600" dirty="0" err="1">
                <a:solidFill>
                  <a:srgbClr val="002060"/>
                </a:solidFill>
              </a:rPr>
              <a:t>satu</a:t>
            </a:r>
            <a:r>
              <a:rPr lang="en-US" sz="3600" dirty="0">
                <a:solidFill>
                  <a:srgbClr val="002060"/>
                </a:solidFill>
              </a:rPr>
              <a:t> </a:t>
            </a:r>
            <a:r>
              <a:rPr lang="en-US" sz="3600" dirty="0" err="1">
                <a:solidFill>
                  <a:srgbClr val="002060"/>
                </a:solidFill>
              </a:rPr>
              <a:t>lawan</a:t>
            </a:r>
            <a:r>
              <a:rPr lang="en-US" sz="3600" dirty="0">
                <a:solidFill>
                  <a:srgbClr val="002060"/>
                </a:solidFill>
              </a:rPr>
              <a:t> </a:t>
            </a:r>
            <a:r>
              <a:rPr lang="en-US" sz="3600" dirty="0" err="1">
                <a:solidFill>
                  <a:srgbClr val="002060"/>
                </a:solidFill>
              </a:rPr>
              <a:t>satu</a:t>
            </a:r>
            <a:r>
              <a:rPr lang="en-US" sz="3600" dirty="0">
                <a:solidFill>
                  <a:srgbClr val="002060"/>
                </a:solidFill>
              </a:rPr>
              <a:t>, yang </a:t>
            </a:r>
            <a:r>
              <a:rPr lang="en-US" sz="3600" dirty="0" err="1">
                <a:solidFill>
                  <a:srgbClr val="002060"/>
                </a:solidFill>
              </a:rPr>
              <a:t>dalam</a:t>
            </a:r>
            <a:r>
              <a:rPr lang="en-US" sz="3600" dirty="0">
                <a:solidFill>
                  <a:srgbClr val="002060"/>
                </a:solidFill>
              </a:rPr>
              <a:t> </a:t>
            </a:r>
            <a:r>
              <a:rPr lang="en-US" sz="3600" dirty="0" err="1">
                <a:solidFill>
                  <a:srgbClr val="002060"/>
                </a:solidFill>
              </a:rPr>
              <a:t>terminologi</a:t>
            </a:r>
            <a:r>
              <a:rPr lang="en-US" sz="3600" dirty="0">
                <a:solidFill>
                  <a:srgbClr val="002060"/>
                </a:solidFill>
              </a:rPr>
              <a:t> AHP </a:t>
            </a:r>
            <a:r>
              <a:rPr lang="en-US" sz="3600" dirty="0" err="1">
                <a:solidFill>
                  <a:srgbClr val="002060"/>
                </a:solidFill>
              </a:rPr>
              <a:t>disebut</a:t>
            </a:r>
            <a:r>
              <a:rPr lang="en-US" sz="3600" dirty="0">
                <a:solidFill>
                  <a:srgbClr val="002060"/>
                </a:solidFill>
              </a:rPr>
              <a:t> </a:t>
            </a:r>
            <a:r>
              <a:rPr lang="en-US" sz="3600" b="1" dirty="0">
                <a:solidFill>
                  <a:srgbClr val="002060"/>
                </a:solidFill>
              </a:rPr>
              <a:t>pair-wise comparation</a:t>
            </a:r>
            <a:r>
              <a:rPr lang="en-US" sz="3600" dirty="0">
                <a:solidFill>
                  <a:srgbClr val="002060"/>
                </a:solidFill>
              </a:rPr>
              <a:t> </a:t>
            </a:r>
          </a:p>
          <a:p>
            <a:r>
              <a:rPr lang="en-US" sz="3600" b="1" dirty="0" err="1">
                <a:solidFill>
                  <a:srgbClr val="FFFF00"/>
                </a:solidFill>
              </a:rPr>
              <a:t>Cantik</a:t>
            </a:r>
            <a:r>
              <a:rPr lang="en-US" sz="3600" b="1" dirty="0">
                <a:solidFill>
                  <a:srgbClr val="FFFF00"/>
                </a:solidFill>
              </a:rPr>
              <a:t> </a:t>
            </a:r>
            <a:r>
              <a:rPr lang="en-US" sz="3600" b="1" dirty="0" err="1">
                <a:solidFill>
                  <a:srgbClr val="FFFF00"/>
                </a:solidFill>
              </a:rPr>
              <a:t>lebih</a:t>
            </a:r>
            <a:r>
              <a:rPr lang="en-US" sz="3600" b="1" dirty="0">
                <a:solidFill>
                  <a:srgbClr val="FFFF00"/>
                </a:solidFill>
              </a:rPr>
              <a:t> </a:t>
            </a:r>
            <a:r>
              <a:rPr lang="en-US" sz="3600" b="1" dirty="0" err="1">
                <a:solidFill>
                  <a:srgbClr val="FFFF00"/>
                </a:solidFill>
              </a:rPr>
              <a:t>penting</a:t>
            </a:r>
            <a:r>
              <a:rPr lang="en-US" sz="3600" b="1" dirty="0">
                <a:solidFill>
                  <a:srgbClr val="FFFF00"/>
                </a:solidFill>
              </a:rPr>
              <a:t> 2 kali </a:t>
            </a:r>
            <a:r>
              <a:rPr lang="en-US" sz="3600" b="1" dirty="0" err="1">
                <a:solidFill>
                  <a:srgbClr val="FFFF00"/>
                </a:solidFill>
              </a:rPr>
              <a:t>dari</a:t>
            </a:r>
            <a:r>
              <a:rPr lang="en-US" sz="3600" b="1" dirty="0">
                <a:solidFill>
                  <a:srgbClr val="FFFF00"/>
                </a:solidFill>
              </a:rPr>
              <a:t> </a:t>
            </a:r>
            <a:r>
              <a:rPr lang="en-US" sz="3600" b="1" dirty="0" err="1">
                <a:solidFill>
                  <a:srgbClr val="FFFF00"/>
                </a:solidFill>
              </a:rPr>
              <a:t>pendidikan</a:t>
            </a:r>
            <a:r>
              <a:rPr lang="en-US" sz="3600" b="1" dirty="0">
                <a:solidFill>
                  <a:srgbClr val="FFFF00"/>
                </a:solidFill>
              </a:rPr>
              <a:t>.</a:t>
            </a:r>
          </a:p>
          <a:p>
            <a:pPr lvl="0"/>
            <a:r>
              <a:rPr lang="en-US" sz="3600" b="1" dirty="0" err="1">
                <a:solidFill>
                  <a:srgbClr val="FFFF00"/>
                </a:solidFill>
              </a:rPr>
              <a:t>Cantik</a:t>
            </a:r>
            <a:r>
              <a:rPr lang="en-US" sz="3600" b="1" dirty="0">
                <a:solidFill>
                  <a:srgbClr val="FFFF00"/>
                </a:solidFill>
              </a:rPr>
              <a:t> </a:t>
            </a:r>
            <a:r>
              <a:rPr lang="en-US" sz="3600" b="1" dirty="0" err="1">
                <a:solidFill>
                  <a:srgbClr val="FFFF00"/>
                </a:solidFill>
              </a:rPr>
              <a:t>lebih</a:t>
            </a:r>
            <a:r>
              <a:rPr lang="en-US" sz="3600" b="1" dirty="0">
                <a:solidFill>
                  <a:srgbClr val="FFFF00"/>
                </a:solidFill>
              </a:rPr>
              <a:t> </a:t>
            </a:r>
            <a:r>
              <a:rPr lang="en-US" sz="3600" b="1" dirty="0" err="1">
                <a:solidFill>
                  <a:srgbClr val="FFFF00"/>
                </a:solidFill>
              </a:rPr>
              <a:t>penting</a:t>
            </a:r>
            <a:r>
              <a:rPr lang="en-US" sz="3600" b="1" dirty="0">
                <a:solidFill>
                  <a:srgbClr val="FFFF00"/>
                </a:solidFill>
              </a:rPr>
              <a:t> 3 kali </a:t>
            </a:r>
            <a:r>
              <a:rPr lang="en-US" sz="3600" b="1" dirty="0" err="1">
                <a:solidFill>
                  <a:srgbClr val="FFFF00"/>
                </a:solidFill>
              </a:rPr>
              <a:t>dari</a:t>
            </a:r>
            <a:r>
              <a:rPr lang="en-US" sz="3600" b="1" dirty="0">
                <a:solidFill>
                  <a:srgbClr val="FFFF00"/>
                </a:solidFill>
              </a:rPr>
              <a:t> kaya, dan</a:t>
            </a:r>
          </a:p>
          <a:p>
            <a:pPr lvl="0"/>
            <a:r>
              <a:rPr lang="en-US" sz="3600" b="1" dirty="0">
                <a:solidFill>
                  <a:srgbClr val="FFFF00"/>
                </a:solidFill>
              </a:rPr>
              <a:t>Pendidikan </a:t>
            </a:r>
            <a:r>
              <a:rPr lang="en-US" sz="3600" b="1" dirty="0" err="1">
                <a:solidFill>
                  <a:srgbClr val="FFFF00"/>
                </a:solidFill>
              </a:rPr>
              <a:t>lebih</a:t>
            </a:r>
            <a:r>
              <a:rPr lang="en-US" sz="3600" b="1" dirty="0">
                <a:solidFill>
                  <a:srgbClr val="FFFF00"/>
                </a:solidFill>
              </a:rPr>
              <a:t> </a:t>
            </a:r>
            <a:r>
              <a:rPr lang="en-US" sz="3600" b="1" dirty="0" err="1">
                <a:solidFill>
                  <a:srgbClr val="FFFF00"/>
                </a:solidFill>
              </a:rPr>
              <a:t>penting</a:t>
            </a:r>
            <a:r>
              <a:rPr lang="en-US" sz="3600" b="1" dirty="0">
                <a:solidFill>
                  <a:srgbClr val="FFFF00"/>
                </a:solidFill>
              </a:rPr>
              <a:t> 1.5 kali </a:t>
            </a:r>
            <a:r>
              <a:rPr lang="en-US" sz="3600" b="1" dirty="0" err="1">
                <a:solidFill>
                  <a:srgbClr val="FFFF00"/>
                </a:solidFill>
              </a:rPr>
              <a:t>dari</a:t>
            </a:r>
            <a:r>
              <a:rPr lang="en-US" sz="3600" b="1" dirty="0">
                <a:solidFill>
                  <a:srgbClr val="FFFF00"/>
                </a:solidFill>
              </a:rPr>
              <a:t> kaya.</a:t>
            </a:r>
          </a:p>
        </p:txBody>
      </p:sp>
    </p:spTree>
    <p:extLst>
      <p:ext uri="{BB962C8B-B14F-4D97-AF65-F5344CB8AC3E}">
        <p14:creationId xmlns:p14="http://schemas.microsoft.com/office/powerpoint/2010/main" val="183649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C4F8B8-22F0-4F63-B3A5-FB4FE5B363E2}"/>
              </a:ext>
            </a:extLst>
          </p:cNvPr>
          <p:cNvSpPr txBox="1"/>
          <p:nvPr/>
        </p:nvSpPr>
        <p:spPr>
          <a:xfrm>
            <a:off x="97018" y="2102177"/>
            <a:ext cx="11997964" cy="3861955"/>
          </a:xfrm>
          <a:prstGeom prst="rect">
            <a:avLst/>
          </a:prstGeom>
          <a:noFill/>
        </p:spPr>
        <p:txBody>
          <a:bodyPr wrap="square">
            <a:spAutoFit/>
          </a:bodyPr>
          <a:lstStyle/>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a:t>
            </a:r>
          </a:p>
          <a:p>
            <a:pPr marL="0" marR="0" indent="45720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(1.8333 x 0.5455) + (3.6667 x 0.2727) + (5.5000 x 0.1818)</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1.0000+ 0.9999+0.9999   =  3</a:t>
            </a:r>
          </a:p>
          <a:p>
            <a:pPr marL="0" marR="0">
              <a:lnSpc>
                <a:spcPct val="107000"/>
              </a:lnSpc>
              <a:spcBef>
                <a:spcPts val="0"/>
              </a:spcBef>
              <a:spcAft>
                <a:spcPts val="0"/>
              </a:spcAft>
            </a:pPr>
            <a:endPar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a:t>
            </a:r>
            <a:r>
              <a:rPr lang="en-US" sz="2000" b="1" baseline="-25000"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Indek</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n) / (n – 1) </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( 3-3) / ( 3-1 )      </a:t>
            </a:r>
          </a:p>
          <a:p>
            <a:pPr marL="0" marR="0">
              <a:lnSpc>
                <a:spcPct val="107000"/>
              </a:lnSpc>
              <a:spcBef>
                <a:spcPts val="0"/>
              </a:spcBef>
              <a:spcAft>
                <a:spcPts val="0"/>
              </a:spcAft>
            </a:pPr>
            <a:r>
              <a:rPr lang="en-US" sz="2000" b="1" dirty="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  / 2    =   0</a:t>
            </a:r>
          </a:p>
          <a:p>
            <a:pPr marL="0" marR="0">
              <a:lnSpc>
                <a:spcPct val="107000"/>
              </a:lnSpc>
              <a:spcBef>
                <a:spcPts val="0"/>
              </a:spcBef>
              <a:spcAft>
                <a:spcPts val="0"/>
              </a:spcAft>
            </a:pPr>
            <a:endPar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CR	= C1 / R1</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 / 0.58   =  0 </a:t>
            </a:r>
          </a:p>
          <a:p>
            <a:pPr marL="0" marR="0">
              <a:lnSpc>
                <a:spcPct val="20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4" name="Content Placeholder 3" descr="null">
            <a:extLst>
              <a:ext uri="{FF2B5EF4-FFF2-40B4-BE49-F238E27FC236}">
                <a16:creationId xmlns:a16="http://schemas.microsoft.com/office/drawing/2014/main" id="{03F2F442-8BC5-4953-9131-358491BCAA0E}"/>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2102177"/>
          </a:xfrm>
          <a:prstGeom prst="rect">
            <a:avLst/>
          </a:prstGeom>
          <a:noFill/>
          <a:ln>
            <a:noFill/>
          </a:ln>
        </p:spPr>
      </p:pic>
      <p:pic>
        <p:nvPicPr>
          <p:cNvPr id="5" name="Picture 4" descr="null">
            <a:extLst>
              <a:ext uri="{FF2B5EF4-FFF2-40B4-BE49-F238E27FC236}">
                <a16:creationId xmlns:a16="http://schemas.microsoft.com/office/drawing/2014/main" id="{1DE6C116-F6C5-4E77-99C2-A28095C7189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0" y="5407647"/>
            <a:ext cx="12192000" cy="835778"/>
          </a:xfrm>
          <a:prstGeom prst="rect">
            <a:avLst/>
          </a:prstGeom>
          <a:noFill/>
          <a:ln>
            <a:noFill/>
          </a:ln>
        </p:spPr>
      </p:pic>
      <p:sp>
        <p:nvSpPr>
          <p:cNvPr id="7" name="TextBox 6">
            <a:extLst>
              <a:ext uri="{FF2B5EF4-FFF2-40B4-BE49-F238E27FC236}">
                <a16:creationId xmlns:a16="http://schemas.microsoft.com/office/drawing/2014/main" id="{42CBEA99-00EF-439F-9A9B-47246169AABD}"/>
              </a:ext>
            </a:extLst>
          </p:cNvPr>
          <p:cNvSpPr txBox="1"/>
          <p:nvPr/>
        </p:nvSpPr>
        <p:spPr>
          <a:xfrm>
            <a:off x="0" y="6243425"/>
            <a:ext cx="12192000" cy="670440"/>
          </a:xfrm>
          <a:prstGeom prst="rect">
            <a:avLst/>
          </a:prstGeom>
          <a:noFill/>
        </p:spPr>
        <p:txBody>
          <a:bodyPr wrap="square">
            <a:spAutoFit/>
          </a:bodyPr>
          <a:lstStyle/>
          <a:p>
            <a:pPr>
              <a:lnSpc>
                <a:spcPct val="107000"/>
              </a:lnSpc>
              <a:spcAft>
                <a:spcPts val="800"/>
              </a:spcAft>
            </a:pP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Jika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hasil</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perhitungan</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CR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lebih</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kecil</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atau</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sama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dengan</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10% ,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ketidak</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konsistenan</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masih</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bisa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diterima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sebaliknya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jika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lebih</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besar</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dari</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10%,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tidak</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bisa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diterima</a:t>
            </a:r>
            <a:r>
              <a:rPr lang="en-US" sz="1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8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78050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F9F107-C6F4-4643-A4B9-73CBBA13DCE1}"/>
              </a:ext>
            </a:extLst>
          </p:cNvPr>
          <p:cNvSpPr txBox="1"/>
          <p:nvPr/>
        </p:nvSpPr>
        <p:spPr>
          <a:xfrm>
            <a:off x="364503" y="2527194"/>
            <a:ext cx="11462993" cy="1938992"/>
          </a:xfrm>
          <a:prstGeom prst="rect">
            <a:avLst/>
          </a:prstGeom>
          <a:noFill/>
        </p:spPr>
        <p:txBody>
          <a:bodyPr wrap="square">
            <a:spAutoFit/>
          </a:bodyPr>
          <a:lstStyle/>
          <a:p>
            <a:pPr algn="just"/>
            <a:r>
              <a:rPr lang="en-US" sz="4000" b="1" dirty="0" err="1">
                <a:solidFill>
                  <a:srgbClr val="FFFF00"/>
                </a:solidFill>
              </a:rPr>
              <a:t>Pertama</a:t>
            </a:r>
            <a:r>
              <a:rPr lang="en-US" sz="4000" b="1" dirty="0">
                <a:solidFill>
                  <a:srgbClr val="FFFF00"/>
                </a:solidFill>
              </a:rPr>
              <a:t>, JOKO </a:t>
            </a:r>
            <a:r>
              <a:rPr lang="en-US" sz="4000" b="1" dirty="0" err="1">
                <a:solidFill>
                  <a:srgbClr val="FFFF00"/>
                </a:solidFill>
              </a:rPr>
              <a:t>akan</a:t>
            </a:r>
            <a:r>
              <a:rPr lang="en-US" sz="4000" b="1" dirty="0">
                <a:solidFill>
                  <a:srgbClr val="FFFF00"/>
                </a:solidFill>
              </a:rPr>
              <a:t> </a:t>
            </a:r>
            <a:r>
              <a:rPr lang="en-US" sz="4000" b="1" dirty="0" err="1">
                <a:solidFill>
                  <a:srgbClr val="FFFF00"/>
                </a:solidFill>
              </a:rPr>
              <a:t>menilai</a:t>
            </a:r>
            <a:r>
              <a:rPr lang="en-US" sz="4000" b="1" dirty="0">
                <a:solidFill>
                  <a:srgbClr val="FFFF00"/>
                </a:solidFill>
              </a:rPr>
              <a:t> </a:t>
            </a:r>
            <a:r>
              <a:rPr lang="en-US" sz="4000" b="1" dirty="0" err="1">
                <a:solidFill>
                  <a:srgbClr val="FFFF00"/>
                </a:solidFill>
              </a:rPr>
              <a:t>siapa</a:t>
            </a:r>
            <a:r>
              <a:rPr lang="en-US" sz="4000" b="1" dirty="0">
                <a:solidFill>
                  <a:srgbClr val="FFFF00"/>
                </a:solidFill>
              </a:rPr>
              <a:t> </a:t>
            </a:r>
            <a:r>
              <a:rPr lang="en-US" sz="4000" b="1" dirty="0" err="1">
                <a:solidFill>
                  <a:srgbClr val="FFFF00"/>
                </a:solidFill>
              </a:rPr>
              <a:t>dari</a:t>
            </a:r>
            <a:r>
              <a:rPr lang="en-US" sz="4000" b="1" dirty="0">
                <a:solidFill>
                  <a:srgbClr val="FFFF00"/>
                </a:solidFill>
              </a:rPr>
              <a:t> </a:t>
            </a:r>
            <a:r>
              <a:rPr lang="en-US" sz="4000" b="1" dirty="0" err="1">
                <a:solidFill>
                  <a:srgbClr val="FFFF00"/>
                </a:solidFill>
              </a:rPr>
              <a:t>ketiga</a:t>
            </a:r>
            <a:r>
              <a:rPr lang="en-US" sz="4000" b="1" dirty="0">
                <a:solidFill>
                  <a:srgbClr val="FFFF00"/>
                </a:solidFill>
              </a:rPr>
              <a:t> </a:t>
            </a:r>
            <a:r>
              <a:rPr lang="en-US" sz="4000" b="1" dirty="0" err="1">
                <a:solidFill>
                  <a:srgbClr val="FFFF00"/>
                </a:solidFill>
              </a:rPr>
              <a:t>pacarnya</a:t>
            </a:r>
            <a:r>
              <a:rPr lang="en-US" sz="4000" b="1" dirty="0">
                <a:solidFill>
                  <a:srgbClr val="FFFF00"/>
                </a:solidFill>
              </a:rPr>
              <a:t> </a:t>
            </a:r>
            <a:r>
              <a:rPr lang="en-US" sz="4000" b="1" dirty="0" err="1">
                <a:solidFill>
                  <a:srgbClr val="FFFF00"/>
                </a:solidFill>
              </a:rPr>
              <a:t>tersebut</a:t>
            </a:r>
            <a:r>
              <a:rPr lang="en-US" sz="4000" b="1" dirty="0">
                <a:solidFill>
                  <a:srgbClr val="FFFF00"/>
                </a:solidFill>
              </a:rPr>
              <a:t> yang paling </a:t>
            </a:r>
            <a:r>
              <a:rPr lang="en-US" sz="4000" b="1" dirty="0" err="1">
                <a:solidFill>
                  <a:srgbClr val="002060"/>
                </a:solidFill>
              </a:rPr>
              <a:t>cantik</a:t>
            </a:r>
            <a:r>
              <a:rPr lang="en-US" sz="4000" dirty="0"/>
              <a:t>. </a:t>
            </a:r>
            <a:r>
              <a:rPr lang="en-US" sz="4000" b="1" dirty="0">
                <a:solidFill>
                  <a:srgbClr val="FFFF00"/>
                </a:solidFill>
              </a:rPr>
              <a:t>pair-wire comparation </a:t>
            </a:r>
            <a:endParaRPr lang="en-US" sz="4000" b="1" dirty="0"/>
          </a:p>
        </p:txBody>
      </p:sp>
    </p:spTree>
    <p:extLst>
      <p:ext uri="{BB962C8B-B14F-4D97-AF65-F5344CB8AC3E}">
        <p14:creationId xmlns:p14="http://schemas.microsoft.com/office/powerpoint/2010/main" val="4055343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79280" y="2667785"/>
            <a:ext cx="12012612" cy="3626849"/>
          </a:xfrm>
        </p:spPr>
        <p:txBody>
          <a:bodyPr/>
          <a:lstStyle/>
          <a:p>
            <a:pPr marL="0" marR="0" indent="0">
              <a:lnSpc>
                <a:spcPct val="107000"/>
              </a:lnSpc>
              <a:spcBef>
                <a:spcPts val="0"/>
              </a:spcBef>
              <a:spcAft>
                <a:spcPts val="0"/>
              </a:spcAft>
              <a:buNone/>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a:t>
            </a:r>
          </a:p>
          <a:p>
            <a:pPr marL="0" marR="0" indent="0">
              <a:lnSpc>
                <a:spcPct val="107000"/>
              </a:lnSpc>
              <a:spcBef>
                <a:spcPts val="0"/>
              </a:spcBef>
              <a:spcAft>
                <a:spcPts val="0"/>
              </a:spcAft>
              <a:buNone/>
            </a:pPr>
            <a:r>
              <a:rPr lang="en-US" sz="2000" b="1" dirty="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(1.58 x 0.6329) + (7x 0.1428) + (4.5x 0.2222)</a:t>
            </a:r>
          </a:p>
          <a:p>
            <a:pPr marL="0" marR="0" indent="0">
              <a:lnSpc>
                <a:spcPct val="107000"/>
              </a:lnSpc>
              <a:spcBef>
                <a:spcPts val="0"/>
              </a:spcBef>
              <a:spcAft>
                <a:spcPts val="0"/>
              </a:spcAft>
              <a:buNone/>
            </a:pPr>
            <a:r>
              <a:rPr lang="en-US" sz="2000" b="1" dirty="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0.9999+ 0.9996+0.9999=  3.00</a:t>
            </a:r>
          </a:p>
          <a:p>
            <a:pPr marL="0" marR="0" indent="0">
              <a:lnSpc>
                <a:spcPct val="107000"/>
              </a:lnSpc>
              <a:spcBef>
                <a:spcPts val="0"/>
              </a:spcBef>
              <a:spcAft>
                <a:spcPts val="0"/>
              </a:spcAft>
              <a:buNone/>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nSpc>
                <a:spcPct val="107000"/>
              </a:lnSpc>
              <a:spcBef>
                <a:spcPts val="0"/>
              </a:spcBef>
              <a:spcAft>
                <a:spcPts val="0"/>
              </a:spcAft>
              <a:buNone/>
            </a:pP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a:t>
            </a:r>
            <a:r>
              <a:rPr lang="en-US" sz="2000" b="1" baseline="-25000"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Indek</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n) / (n – 1) </a:t>
            </a:r>
          </a:p>
          <a:p>
            <a:pPr marL="0" marR="0" indent="0">
              <a:lnSpc>
                <a:spcPct val="107000"/>
              </a:lnSpc>
              <a:spcBef>
                <a:spcPts val="0"/>
              </a:spcBef>
              <a:spcAft>
                <a:spcPts val="0"/>
              </a:spcAft>
              <a:buNone/>
            </a:pPr>
            <a:r>
              <a:rPr lang="en-US" sz="2000" b="1" dirty="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( 3.00 – 3 ) / ( 3-1 )       = 0 / 2    =   0</a:t>
            </a:r>
          </a:p>
          <a:p>
            <a:pPr marL="0" marR="0" indent="0">
              <a:lnSpc>
                <a:spcPct val="107000"/>
              </a:lnSpc>
              <a:spcBef>
                <a:spcPts val="0"/>
              </a:spcBef>
              <a:spcAft>
                <a:spcPts val="0"/>
              </a:spcAft>
              <a:buNone/>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nSpc>
                <a:spcPct val="107000"/>
              </a:lnSpc>
              <a:spcBef>
                <a:spcPts val="0"/>
              </a:spcBef>
              <a:spcAft>
                <a:spcPts val="0"/>
              </a:spcAft>
              <a:buNone/>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CR	= C1 / R1</a:t>
            </a:r>
          </a:p>
          <a:p>
            <a:pPr marL="0" marR="0" indent="0">
              <a:lnSpc>
                <a:spcPct val="107000"/>
              </a:lnSpc>
              <a:spcBef>
                <a:spcPts val="0"/>
              </a:spcBef>
              <a:spcAft>
                <a:spcPts val="0"/>
              </a:spcAft>
              <a:buNone/>
            </a:pPr>
            <a:r>
              <a:rPr lang="en-US" sz="2000" b="1" dirty="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 / 0.58   =  0 </a:t>
            </a:r>
          </a:p>
          <a:p>
            <a:pPr algn="just"/>
            <a:endParaRPr lang="en-US" b="1" dirty="0"/>
          </a:p>
        </p:txBody>
      </p:sp>
      <p:sp>
        <p:nvSpPr>
          <p:cNvPr id="5" name="Rectangle 4"/>
          <p:cNvSpPr/>
          <p:nvPr/>
        </p:nvSpPr>
        <p:spPr>
          <a:xfrm>
            <a:off x="293537" y="5703936"/>
            <a:ext cx="11719183" cy="1014380"/>
          </a:xfrm>
          <a:prstGeom prst="rect">
            <a:avLst/>
          </a:prstGeom>
        </p:spPr>
        <p:txBody>
          <a:bodyPr wrap="square">
            <a:spAutoFit/>
          </a:bodyPr>
          <a:lstStyle/>
          <a:p>
            <a:pPr>
              <a:lnSpc>
                <a:spcPct val="107000"/>
              </a:lnSpc>
              <a:spcAft>
                <a:spcPts val="800"/>
              </a:spcAft>
            </a:pP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namun</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karena</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nilai</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CR=0%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lebih</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kecil</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dari</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10%,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maka</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konsistenan</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ini</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masih</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bisa</a:t>
            </a:r>
            <a:r>
              <a:rPr lang="en-US" sz="28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diterima</a:t>
            </a:r>
            <a:r>
              <a:rPr lang="en-US"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37B324EF-0C33-48CC-8C45-67F112B58AA8}"/>
              </a:ext>
            </a:extLst>
          </p:cNvPr>
          <p:cNvPicPr>
            <a:picLocks noChangeAspect="1"/>
          </p:cNvPicPr>
          <p:nvPr/>
        </p:nvPicPr>
        <p:blipFill rotWithShape="1">
          <a:blip r:embed="rId2"/>
          <a:srcRect l="25284" t="40550" r="25000" b="37319"/>
          <a:stretch/>
        </p:blipFill>
        <p:spPr>
          <a:xfrm>
            <a:off x="0" y="0"/>
            <a:ext cx="12192000" cy="2667785"/>
          </a:xfrm>
          <a:prstGeom prst="rect">
            <a:avLst/>
          </a:prstGeom>
        </p:spPr>
      </p:pic>
    </p:spTree>
    <p:extLst>
      <p:ext uri="{BB962C8B-B14F-4D97-AF65-F5344CB8AC3E}">
        <p14:creationId xmlns:p14="http://schemas.microsoft.com/office/powerpoint/2010/main" val="3379163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72643"/>
            <a:ext cx="12192000" cy="1081087"/>
          </a:xfrm>
        </p:spPr>
        <p:txBody>
          <a:bodyPr>
            <a:noAutofit/>
          </a:bodyPr>
          <a:lstStyle/>
          <a:p>
            <a:pPr algn="l"/>
            <a:r>
              <a:rPr lang="en-US" sz="2800" b="1" dirty="0">
                <a:solidFill>
                  <a:schemeClr val="bg1"/>
                </a:solidFill>
              </a:rPr>
              <a:t>Si </a:t>
            </a:r>
            <a:r>
              <a:rPr lang="en-US" sz="2800" b="1" dirty="0" err="1">
                <a:solidFill>
                  <a:schemeClr val="bg1"/>
                </a:solidFill>
              </a:rPr>
              <a:t>Yayu</a:t>
            </a:r>
            <a:r>
              <a:rPr lang="en-US" sz="2800" b="1" dirty="0">
                <a:solidFill>
                  <a:schemeClr val="bg1"/>
                </a:solidFill>
              </a:rPr>
              <a:t> </a:t>
            </a:r>
            <a:r>
              <a:rPr lang="en-US" sz="2800" b="1" dirty="0">
                <a:solidFill>
                  <a:srgbClr val="FFFF00"/>
                </a:solidFill>
              </a:rPr>
              <a:t>yang </a:t>
            </a:r>
            <a:r>
              <a:rPr lang="en-US" sz="2800" b="1" dirty="0" err="1">
                <a:solidFill>
                  <a:srgbClr val="FFFF00"/>
                </a:solidFill>
              </a:rPr>
              <a:t>sehari-hari</a:t>
            </a:r>
            <a:r>
              <a:rPr lang="en-US" sz="2800" b="1" dirty="0">
                <a:solidFill>
                  <a:srgbClr val="FFFF00"/>
                </a:solidFill>
              </a:rPr>
              <a:t> </a:t>
            </a:r>
            <a:r>
              <a:rPr lang="en-US" sz="2800" b="1" dirty="0" err="1">
                <a:solidFill>
                  <a:srgbClr val="FFFF00"/>
                </a:solidFill>
              </a:rPr>
              <a:t>bekerja</a:t>
            </a:r>
            <a:r>
              <a:rPr lang="en-US" sz="2800" b="1" dirty="0">
                <a:solidFill>
                  <a:srgbClr val="FFFF00"/>
                </a:solidFill>
              </a:rPr>
              <a:t> </a:t>
            </a:r>
            <a:r>
              <a:rPr lang="en-US" sz="2800" b="1" dirty="0" err="1">
                <a:solidFill>
                  <a:srgbClr val="FFFF00"/>
                </a:solidFill>
              </a:rPr>
              <a:t>sebagai</a:t>
            </a:r>
            <a:r>
              <a:rPr lang="en-US" sz="2800" b="1" dirty="0">
                <a:solidFill>
                  <a:srgbClr val="FFFF00"/>
                </a:solidFill>
              </a:rPr>
              <a:t> </a:t>
            </a:r>
            <a:r>
              <a:rPr lang="en-US" sz="2800" b="1" dirty="0" err="1">
                <a:solidFill>
                  <a:srgbClr val="FFFF00"/>
                </a:solidFill>
              </a:rPr>
              <a:t>kasir</a:t>
            </a:r>
            <a:r>
              <a:rPr lang="en-US" sz="2800" b="1" dirty="0">
                <a:solidFill>
                  <a:srgbClr val="FFFF00"/>
                </a:solidFill>
              </a:rPr>
              <a:t> di </a:t>
            </a:r>
            <a:r>
              <a:rPr lang="en-US" sz="2800" b="1" dirty="0" err="1">
                <a:solidFill>
                  <a:srgbClr val="FFFF00"/>
                </a:solidFill>
              </a:rPr>
              <a:t>sebuah</a:t>
            </a:r>
            <a:r>
              <a:rPr lang="en-US" sz="2800" b="1" dirty="0">
                <a:solidFill>
                  <a:srgbClr val="FFFF00"/>
                </a:solidFill>
              </a:rPr>
              <a:t> </a:t>
            </a:r>
            <a:r>
              <a:rPr lang="en-US" sz="2800" b="1" dirty="0" err="1">
                <a:solidFill>
                  <a:srgbClr val="FFFF00"/>
                </a:solidFill>
              </a:rPr>
              <a:t>toko</a:t>
            </a:r>
            <a:r>
              <a:rPr lang="en-US" sz="2800" b="1" dirty="0">
                <a:solidFill>
                  <a:srgbClr val="FFFF00"/>
                </a:solidFill>
              </a:rPr>
              <a:t> </a:t>
            </a:r>
            <a:r>
              <a:rPr lang="en-US" sz="2800" b="1" dirty="0" err="1">
                <a:solidFill>
                  <a:srgbClr val="FFFF00"/>
                </a:solidFill>
              </a:rPr>
              <a:t>swalayan</a:t>
            </a:r>
            <a:r>
              <a:rPr lang="en-US" sz="2800" b="1" dirty="0">
                <a:solidFill>
                  <a:srgbClr val="FFFF00"/>
                </a:solidFill>
              </a:rPr>
              <a:t> </a:t>
            </a:r>
            <a:r>
              <a:rPr lang="en-US" sz="2800" b="1" dirty="0" err="1">
                <a:solidFill>
                  <a:srgbClr val="FFFF00"/>
                </a:solidFill>
              </a:rPr>
              <a:t>hanya</a:t>
            </a:r>
            <a:r>
              <a:rPr lang="en-US" sz="2800" b="1" dirty="0">
                <a:solidFill>
                  <a:srgbClr val="FFFF00"/>
                </a:solidFill>
              </a:rPr>
              <a:t>   </a:t>
            </a:r>
            <a:r>
              <a:rPr lang="en-US" sz="2800" b="1" dirty="0" err="1">
                <a:solidFill>
                  <a:srgbClr val="FFFF00"/>
                </a:solidFill>
              </a:rPr>
              <a:t>tamatan</a:t>
            </a:r>
            <a:r>
              <a:rPr lang="en-US" sz="2800" b="1" dirty="0">
                <a:solidFill>
                  <a:srgbClr val="FFFF00"/>
                </a:solidFill>
              </a:rPr>
              <a:t> SMA.  </a:t>
            </a:r>
            <a:br>
              <a:rPr lang="en-US" sz="2800" b="1" dirty="0">
                <a:solidFill>
                  <a:srgbClr val="FFFF00"/>
                </a:solidFill>
              </a:rPr>
            </a:br>
            <a:r>
              <a:rPr lang="en-US" sz="2800" b="1" dirty="0">
                <a:solidFill>
                  <a:schemeClr val="bg1"/>
                </a:solidFill>
              </a:rPr>
              <a:t>Grace</a:t>
            </a:r>
            <a:r>
              <a:rPr lang="en-US" sz="2800" b="1" dirty="0">
                <a:solidFill>
                  <a:srgbClr val="FFFF00"/>
                </a:solidFill>
              </a:rPr>
              <a:t> yang </a:t>
            </a:r>
            <a:r>
              <a:rPr lang="en-US" sz="2800" b="1" dirty="0" err="1">
                <a:solidFill>
                  <a:srgbClr val="FFFF00"/>
                </a:solidFill>
              </a:rPr>
              <a:t>menduduki</a:t>
            </a:r>
            <a:r>
              <a:rPr lang="en-US" sz="2800" b="1" dirty="0">
                <a:solidFill>
                  <a:srgbClr val="FFFF00"/>
                </a:solidFill>
              </a:rPr>
              <a:t> salah </a:t>
            </a:r>
            <a:r>
              <a:rPr lang="en-US" sz="2800" b="1" dirty="0" err="1">
                <a:solidFill>
                  <a:srgbClr val="FFFF00"/>
                </a:solidFill>
              </a:rPr>
              <a:t>satu</a:t>
            </a:r>
            <a:r>
              <a:rPr lang="en-US" sz="2800" b="1" dirty="0">
                <a:solidFill>
                  <a:srgbClr val="FFFF00"/>
                </a:solidFill>
              </a:rPr>
              <a:t> </a:t>
            </a:r>
            <a:r>
              <a:rPr lang="en-US" sz="2800" b="1" dirty="0" err="1">
                <a:solidFill>
                  <a:srgbClr val="FFFF00"/>
                </a:solidFill>
              </a:rPr>
              <a:t>direksi</a:t>
            </a:r>
            <a:r>
              <a:rPr lang="en-US" sz="2800" b="1" dirty="0">
                <a:solidFill>
                  <a:srgbClr val="FFFF00"/>
                </a:solidFill>
              </a:rPr>
              <a:t> di </a:t>
            </a:r>
            <a:r>
              <a:rPr lang="en-US" sz="2800" b="1" dirty="0" err="1">
                <a:solidFill>
                  <a:srgbClr val="FFFF00"/>
                </a:solidFill>
              </a:rPr>
              <a:t>perusahaan</a:t>
            </a:r>
            <a:r>
              <a:rPr lang="en-US" sz="2800" b="1" dirty="0">
                <a:solidFill>
                  <a:srgbClr val="FFFF00"/>
                </a:solidFill>
              </a:rPr>
              <a:t> </a:t>
            </a:r>
            <a:r>
              <a:rPr lang="en-US" sz="2800" b="1" dirty="0" err="1">
                <a:solidFill>
                  <a:srgbClr val="FFFF00"/>
                </a:solidFill>
              </a:rPr>
              <a:t>keluarganya</a:t>
            </a:r>
            <a:r>
              <a:rPr lang="en-US" sz="2800" b="1" dirty="0">
                <a:solidFill>
                  <a:srgbClr val="FFFF00"/>
                </a:solidFill>
              </a:rPr>
              <a:t> </a:t>
            </a:r>
            <a:r>
              <a:rPr lang="en-US" sz="2800" b="1" dirty="0" err="1">
                <a:solidFill>
                  <a:srgbClr val="FFFF00"/>
                </a:solidFill>
              </a:rPr>
              <a:t>adalah</a:t>
            </a:r>
            <a:r>
              <a:rPr lang="en-US" sz="2800" b="1" dirty="0">
                <a:solidFill>
                  <a:srgbClr val="FFFF00"/>
                </a:solidFill>
              </a:rPr>
              <a:t> </a:t>
            </a:r>
            <a:r>
              <a:rPr lang="en-US" sz="2800" b="1" dirty="0" err="1">
                <a:solidFill>
                  <a:srgbClr val="FFFF00"/>
                </a:solidFill>
              </a:rPr>
              <a:t>lulusan</a:t>
            </a:r>
            <a:r>
              <a:rPr lang="en-US" sz="2800" b="1" dirty="0">
                <a:solidFill>
                  <a:srgbClr val="FFFF00"/>
                </a:solidFill>
              </a:rPr>
              <a:t> S1 </a:t>
            </a:r>
            <a:r>
              <a:rPr lang="en-US" sz="2800" b="1" dirty="0" err="1">
                <a:solidFill>
                  <a:srgbClr val="FFFF00"/>
                </a:solidFill>
              </a:rPr>
              <a:t>ekonomi</a:t>
            </a:r>
            <a:r>
              <a:rPr lang="en-US" sz="2800" b="1" dirty="0">
                <a:solidFill>
                  <a:srgbClr val="FFFF00"/>
                </a:solidFill>
              </a:rPr>
              <a:t> </a:t>
            </a:r>
            <a:r>
              <a:rPr lang="en-US" sz="2800" b="1" dirty="0" err="1">
                <a:solidFill>
                  <a:srgbClr val="FFFF00"/>
                </a:solidFill>
              </a:rPr>
              <a:t>dari</a:t>
            </a:r>
            <a:r>
              <a:rPr lang="en-US" sz="2800" b="1" dirty="0">
                <a:solidFill>
                  <a:srgbClr val="FFFF00"/>
                </a:solidFill>
              </a:rPr>
              <a:t> salah </a:t>
            </a:r>
            <a:r>
              <a:rPr lang="en-US" sz="2800" b="1" dirty="0" err="1">
                <a:solidFill>
                  <a:srgbClr val="FFFF00"/>
                </a:solidFill>
              </a:rPr>
              <a:t>satu</a:t>
            </a:r>
            <a:r>
              <a:rPr lang="en-US" sz="2800" b="1" dirty="0">
                <a:solidFill>
                  <a:srgbClr val="FFFF00"/>
                </a:solidFill>
              </a:rPr>
              <a:t> </a:t>
            </a:r>
            <a:r>
              <a:rPr lang="en-US" sz="2800" b="1" dirty="0" err="1">
                <a:solidFill>
                  <a:srgbClr val="FFFF00"/>
                </a:solidFill>
              </a:rPr>
              <a:t>perguruan</a:t>
            </a:r>
            <a:r>
              <a:rPr lang="en-US" sz="2800" b="1" dirty="0">
                <a:solidFill>
                  <a:srgbClr val="FFFF00"/>
                </a:solidFill>
              </a:rPr>
              <a:t> </a:t>
            </a:r>
            <a:r>
              <a:rPr lang="en-US" sz="2800" b="1" dirty="0" err="1">
                <a:solidFill>
                  <a:srgbClr val="FFFF00"/>
                </a:solidFill>
              </a:rPr>
              <a:t>tinggi</a:t>
            </a:r>
            <a:r>
              <a:rPr lang="en-US" sz="2800" b="1" dirty="0">
                <a:solidFill>
                  <a:srgbClr val="FFFF00"/>
                </a:solidFill>
              </a:rPr>
              <a:t> negeri di Jakarta. </a:t>
            </a:r>
            <a:br>
              <a:rPr lang="en-US" sz="2800" b="1" dirty="0">
                <a:solidFill>
                  <a:srgbClr val="FFFF00"/>
                </a:solidFill>
              </a:rPr>
            </a:br>
            <a:r>
              <a:rPr lang="en-US" sz="2800" b="1" dirty="0" err="1">
                <a:solidFill>
                  <a:srgbClr val="FFFF00"/>
                </a:solidFill>
              </a:rPr>
              <a:t>Sedangkan</a:t>
            </a:r>
            <a:r>
              <a:rPr lang="en-US" sz="2800" b="1" dirty="0">
                <a:solidFill>
                  <a:srgbClr val="FFFF00"/>
                </a:solidFill>
              </a:rPr>
              <a:t> </a:t>
            </a:r>
            <a:r>
              <a:rPr lang="en-US" sz="2800" b="1" dirty="0" err="1">
                <a:solidFill>
                  <a:schemeClr val="bg1"/>
                </a:solidFill>
              </a:rPr>
              <a:t>Fitri</a:t>
            </a:r>
            <a:r>
              <a:rPr lang="en-US" sz="2800" b="1" dirty="0">
                <a:solidFill>
                  <a:schemeClr val="bg1"/>
                </a:solidFill>
              </a:rPr>
              <a:t> </a:t>
            </a:r>
            <a:r>
              <a:rPr lang="en-US" sz="2800" b="1" dirty="0" err="1">
                <a:solidFill>
                  <a:srgbClr val="FFFF00"/>
                </a:solidFill>
              </a:rPr>
              <a:t>adalah</a:t>
            </a:r>
            <a:r>
              <a:rPr lang="en-US" sz="2800" b="1" dirty="0">
                <a:solidFill>
                  <a:srgbClr val="FFFF00"/>
                </a:solidFill>
              </a:rPr>
              <a:t> </a:t>
            </a:r>
            <a:r>
              <a:rPr lang="en-US" sz="2800" b="1" dirty="0" err="1">
                <a:solidFill>
                  <a:srgbClr val="FFFF00"/>
                </a:solidFill>
              </a:rPr>
              <a:t>teman</a:t>
            </a:r>
            <a:r>
              <a:rPr lang="en-US" sz="2800" b="1" dirty="0">
                <a:solidFill>
                  <a:srgbClr val="FFFF00"/>
                </a:solidFill>
              </a:rPr>
              <a:t> </a:t>
            </a:r>
            <a:r>
              <a:rPr lang="en-US" sz="2800" b="1" dirty="0" err="1">
                <a:solidFill>
                  <a:srgbClr val="FFFF00"/>
                </a:solidFill>
              </a:rPr>
              <a:t>kuliahnya</a:t>
            </a:r>
            <a:r>
              <a:rPr lang="en-US" sz="2800" b="1" dirty="0">
                <a:solidFill>
                  <a:srgbClr val="FFFF00"/>
                </a:solidFill>
              </a:rPr>
              <a:t> di program </a:t>
            </a:r>
            <a:r>
              <a:rPr lang="en-US" sz="2800" b="1" dirty="0" err="1">
                <a:solidFill>
                  <a:srgbClr val="FFFF00"/>
                </a:solidFill>
              </a:rPr>
              <a:t>paska</a:t>
            </a:r>
            <a:r>
              <a:rPr lang="en-US" sz="2800" b="1" dirty="0">
                <a:solidFill>
                  <a:srgbClr val="FFFF00"/>
                </a:solidFill>
              </a:rPr>
              <a:t> </a:t>
            </a:r>
            <a:r>
              <a:rPr lang="en-US" sz="2800" b="1" dirty="0" err="1">
                <a:solidFill>
                  <a:srgbClr val="FFFF00"/>
                </a:solidFill>
              </a:rPr>
              <a:t>sarjana</a:t>
            </a:r>
            <a:r>
              <a:rPr lang="en-US" sz="2800" b="1" dirty="0">
                <a:solidFill>
                  <a:srgbClr val="FFFF00"/>
                </a:solidFill>
              </a:rPr>
              <a:t> salah </a:t>
            </a:r>
            <a:r>
              <a:rPr lang="en-US" sz="2800" b="1" dirty="0" err="1">
                <a:solidFill>
                  <a:srgbClr val="FFFF00"/>
                </a:solidFill>
              </a:rPr>
              <a:t>satu</a:t>
            </a:r>
            <a:r>
              <a:rPr lang="en-US" sz="2800" b="1" dirty="0">
                <a:solidFill>
                  <a:srgbClr val="FFFF00"/>
                </a:solidFill>
              </a:rPr>
              <a:t> </a:t>
            </a:r>
            <a:r>
              <a:rPr lang="en-US" sz="2800" b="1" dirty="0" err="1">
                <a:solidFill>
                  <a:srgbClr val="FFFF00"/>
                </a:solidFill>
              </a:rPr>
              <a:t>perguruan</a:t>
            </a:r>
            <a:r>
              <a:rPr lang="en-US" sz="2800" b="1" dirty="0">
                <a:solidFill>
                  <a:srgbClr val="FFFF00"/>
                </a:solidFill>
              </a:rPr>
              <a:t> </a:t>
            </a:r>
            <a:r>
              <a:rPr lang="en-US" sz="2800" b="1" dirty="0" err="1">
                <a:solidFill>
                  <a:srgbClr val="FFFF00"/>
                </a:solidFill>
              </a:rPr>
              <a:t>tinggi</a:t>
            </a:r>
            <a:r>
              <a:rPr lang="en-US" sz="2800" b="1" dirty="0">
                <a:solidFill>
                  <a:srgbClr val="FFFF00"/>
                </a:solidFill>
              </a:rPr>
              <a:t> di Bandung.  </a:t>
            </a:r>
            <a:br>
              <a:rPr lang="en-US" sz="2800" b="1" dirty="0">
                <a:solidFill>
                  <a:srgbClr val="FFFF00"/>
                </a:solidFill>
              </a:rPr>
            </a:br>
            <a:r>
              <a:rPr lang="en-US" sz="2800" b="1" dirty="0">
                <a:solidFill>
                  <a:srgbClr val="FFFF00"/>
                </a:solidFill>
              </a:rPr>
              <a:t>JOKO </a:t>
            </a:r>
            <a:r>
              <a:rPr lang="en-US" sz="2800" b="1" dirty="0" err="1">
                <a:solidFill>
                  <a:srgbClr val="FFFF00"/>
                </a:solidFill>
              </a:rPr>
              <a:t>memberi</a:t>
            </a:r>
            <a:r>
              <a:rPr lang="en-US" sz="2800" b="1" dirty="0">
                <a:solidFill>
                  <a:srgbClr val="FFFF00"/>
                </a:solidFill>
              </a:rPr>
              <a:t> </a:t>
            </a:r>
            <a:r>
              <a:rPr lang="en-US" sz="2800" b="1" dirty="0" err="1">
                <a:solidFill>
                  <a:srgbClr val="FFFF00"/>
                </a:solidFill>
              </a:rPr>
              <a:t>bobot</a:t>
            </a:r>
            <a:r>
              <a:rPr lang="en-US" sz="2800" b="1" dirty="0">
                <a:solidFill>
                  <a:srgbClr val="FFFF00"/>
                </a:solidFill>
              </a:rPr>
              <a:t> </a:t>
            </a:r>
            <a:r>
              <a:rPr lang="en-US" sz="2800" b="1" dirty="0" err="1">
                <a:solidFill>
                  <a:srgbClr val="FFFF00"/>
                </a:solidFill>
              </a:rPr>
              <a:t>pendidikan</a:t>
            </a:r>
            <a:r>
              <a:rPr lang="en-US" sz="2800" b="1" dirty="0">
                <a:solidFill>
                  <a:srgbClr val="FFFF00"/>
                </a:solidFill>
              </a:rPr>
              <a:t> </a:t>
            </a:r>
            <a:r>
              <a:rPr lang="en-US" sz="2800" b="1" dirty="0" err="1">
                <a:solidFill>
                  <a:srgbClr val="FFFF00"/>
                </a:solidFill>
              </a:rPr>
              <a:t>untuk</a:t>
            </a:r>
            <a:r>
              <a:rPr lang="en-US" sz="2800" b="1" dirty="0">
                <a:solidFill>
                  <a:srgbClr val="FFFF00"/>
                </a:solidFill>
              </a:rPr>
              <a:t> </a:t>
            </a:r>
            <a:r>
              <a:rPr lang="en-US" sz="2800" b="1" dirty="0" err="1">
                <a:solidFill>
                  <a:srgbClr val="FFFF00"/>
                </a:solidFill>
              </a:rPr>
              <a:t>ketiga</a:t>
            </a:r>
            <a:r>
              <a:rPr lang="en-US" sz="2800" b="1" dirty="0">
                <a:solidFill>
                  <a:srgbClr val="FFFF00"/>
                </a:solidFill>
              </a:rPr>
              <a:t> </a:t>
            </a:r>
            <a:r>
              <a:rPr lang="en-US" sz="2800" b="1" dirty="0" err="1">
                <a:solidFill>
                  <a:srgbClr val="FFFF00"/>
                </a:solidFill>
              </a:rPr>
              <a:t>pacarnya</a:t>
            </a:r>
            <a:r>
              <a:rPr lang="en-US" sz="2800" b="1" dirty="0">
                <a:solidFill>
                  <a:srgbClr val="FFFF00"/>
                </a:solidFill>
              </a:rPr>
              <a:t> </a:t>
            </a:r>
            <a:r>
              <a:rPr lang="en-US" sz="2800" b="1" dirty="0" err="1">
                <a:solidFill>
                  <a:srgbClr val="FFFF00"/>
                </a:solidFill>
              </a:rPr>
              <a:t>sbb</a:t>
            </a:r>
            <a:r>
              <a:rPr lang="en-US" sz="2800" b="1" dirty="0">
                <a:solidFill>
                  <a:srgbClr val="FFFF00"/>
                </a:solidFill>
              </a:rPr>
              <a:t>:</a:t>
            </a:r>
            <a:br>
              <a:rPr lang="en-US" sz="2800" b="1" dirty="0">
                <a:solidFill>
                  <a:srgbClr val="FFFF00"/>
                </a:solidFill>
              </a:rPr>
            </a:br>
            <a:endParaRPr lang="en-US" sz="2800" b="1" dirty="0">
              <a:solidFill>
                <a:srgbClr val="FFFF00"/>
              </a:solidFill>
            </a:endParaRPr>
          </a:p>
        </p:txBody>
      </p:sp>
      <p:sp>
        <p:nvSpPr>
          <p:cNvPr id="4" name="Rectangle 3"/>
          <p:cNvSpPr/>
          <p:nvPr/>
        </p:nvSpPr>
        <p:spPr>
          <a:xfrm>
            <a:off x="530268" y="4877439"/>
            <a:ext cx="10542740" cy="1878335"/>
          </a:xfrm>
          <a:prstGeom prst="rect">
            <a:avLst/>
          </a:prstGeom>
        </p:spPr>
        <p:txBody>
          <a:bodyPr wrap="square">
            <a:sp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Tingkat </a:t>
            </a:r>
            <a:r>
              <a:rPr lang="en-US" sz="32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pendidikan</a:t>
            </a: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Yayu</a:t>
            </a:r>
            <a:r>
              <a:rPr lang="en-US" sz="32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1/3 Grace</a:t>
            </a: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Tingkat </a:t>
            </a:r>
            <a:r>
              <a:rPr lang="en-US" sz="32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pendidikan</a:t>
            </a: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Yayu</a:t>
            </a:r>
            <a:r>
              <a:rPr lang="en-US" sz="32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1/4 </a:t>
            </a:r>
            <a:r>
              <a:rPr lang="en-US" sz="32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Fitri</a:t>
            </a: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Tingkat </a:t>
            </a:r>
            <a:r>
              <a:rPr lang="en-US" sz="32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pendidikan</a:t>
            </a: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Grace 1/2 </a:t>
            </a:r>
            <a:r>
              <a:rPr lang="en-US" sz="32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Yayu</a:t>
            </a:r>
            <a:r>
              <a:rPr lang="en-US" sz="3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6050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73222" y="5519107"/>
            <a:ext cx="11845556" cy="1258421"/>
          </a:xfrm>
          <a:prstGeom prst="rect">
            <a:avLst/>
          </a:prstGeom>
        </p:spPr>
        <p:txBody>
          <a:bodyPr wrap="square">
            <a:spAutoFit/>
          </a:bodyPr>
          <a:lstStyle/>
          <a:p>
            <a:pPr>
              <a:lnSpc>
                <a:spcPct val="107000"/>
              </a:lnSpc>
              <a:spcAft>
                <a:spcPts val="800"/>
              </a:spcAft>
            </a:pP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Dari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tabel</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ini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terlihat</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bahwa</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Fitri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yang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mahasiswa</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S2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mendapat</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nilai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tertinggi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yaitu</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0.571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disusul</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Grace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dengan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nilai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0.300 dan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terakhir</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Yayu</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dengan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nilai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0.125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namun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masih</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bisa</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diterima</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karena</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nilai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CR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masih</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dibawah</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10%.</a:t>
            </a:r>
            <a:endParaRPr lang="en-US" sz="24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230CBC52-4B4F-4846-BE51-5441975B77EF}"/>
              </a:ext>
            </a:extLst>
          </p:cNvPr>
          <p:cNvSpPr txBox="1"/>
          <p:nvPr/>
        </p:nvSpPr>
        <p:spPr>
          <a:xfrm>
            <a:off x="322868" y="2560396"/>
            <a:ext cx="11960258" cy="3041602"/>
          </a:xfrm>
          <a:prstGeom prst="rect">
            <a:avLst/>
          </a:prstGeom>
          <a:noFill/>
        </p:spPr>
        <p:txBody>
          <a:bodyPr wrap="square">
            <a:spAutoFit/>
          </a:bodyPr>
          <a:lstStyle/>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a:t>
            </a:r>
          </a:p>
          <a:p>
            <a:pPr marL="0" marR="0" indent="45720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(8 x 0.125) + (3.33 x 0.300) + ( 1.75 x 0.571)</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1 + 0.999 +0.999 =  3.00</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a:t>
            </a:r>
            <a:r>
              <a:rPr lang="en-US" sz="2000" b="1" baseline="-25000"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Indek</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n) / (n – 1) </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( 3.00 – 3 ) / ( 3-1 )       = 0 / 2    =   0</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CR	= C1 / R1</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 / 0.58   =  0 </a:t>
            </a:r>
          </a:p>
        </p:txBody>
      </p:sp>
      <p:pic>
        <p:nvPicPr>
          <p:cNvPr id="8" name="Picture 7">
            <a:extLst>
              <a:ext uri="{FF2B5EF4-FFF2-40B4-BE49-F238E27FC236}">
                <a16:creationId xmlns:a16="http://schemas.microsoft.com/office/drawing/2014/main" id="{4020474B-EF47-48CB-8430-E473E26BFB4B}"/>
              </a:ext>
            </a:extLst>
          </p:cNvPr>
          <p:cNvPicPr>
            <a:picLocks noChangeAspect="1"/>
          </p:cNvPicPr>
          <p:nvPr/>
        </p:nvPicPr>
        <p:blipFill rotWithShape="1">
          <a:blip r:embed="rId2"/>
          <a:srcRect l="25670" t="33127" r="25000" b="45154"/>
          <a:stretch/>
        </p:blipFill>
        <p:spPr>
          <a:xfrm>
            <a:off x="0" y="0"/>
            <a:ext cx="12192000" cy="2560396"/>
          </a:xfrm>
          <a:prstGeom prst="rect">
            <a:avLst/>
          </a:prstGeom>
        </p:spPr>
      </p:pic>
    </p:spTree>
    <p:extLst>
      <p:ext uri="{BB962C8B-B14F-4D97-AF65-F5344CB8AC3E}">
        <p14:creationId xmlns:p14="http://schemas.microsoft.com/office/powerpoint/2010/main" val="2797850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5599579"/>
            <a:ext cx="11991975" cy="1258421"/>
          </a:xfrm>
          <a:prstGeom prst="rect">
            <a:avLst/>
          </a:prstGeom>
        </p:spPr>
        <p:txBody>
          <a:bodyPr wrap="square">
            <a:spAutoFit/>
          </a:bodyPr>
          <a:lstStyle/>
          <a:p>
            <a:pPr>
              <a:lnSpc>
                <a:spcPct val="107000"/>
              </a:lnSpc>
              <a:spcAft>
                <a:spcPts val="800"/>
              </a:spcAft>
            </a:pP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Jadi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hasil</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penilaian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JOKO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adalah</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Yayu</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yang paling kaya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dengan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skor</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0.546,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disusul</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Grace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dengan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skor</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0.285 dan yang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terakhir</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Fitri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dengan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skor</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0.166.  Pada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pembobotan</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kali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ini</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Bangbang</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sangat</a:t>
            </a:r>
            <a:r>
              <a:rPr lang="en-US" sz="2400" b="1"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konsisten</a:t>
            </a:r>
            <a:endParaRPr lang="en-US" sz="24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22A696C8-BD50-4E3E-8BB4-C54C369AA0FB}"/>
              </a:ext>
            </a:extLst>
          </p:cNvPr>
          <p:cNvSpPr txBox="1"/>
          <p:nvPr/>
        </p:nvSpPr>
        <p:spPr>
          <a:xfrm>
            <a:off x="200024" y="2607530"/>
            <a:ext cx="11991975" cy="3041602"/>
          </a:xfrm>
          <a:prstGeom prst="rect">
            <a:avLst/>
          </a:prstGeom>
          <a:noFill/>
        </p:spPr>
        <p:txBody>
          <a:bodyPr wrap="square">
            <a:spAutoFit/>
          </a:bodyPr>
          <a:lstStyle/>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K1 )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K2 ) + ( (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Jml</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 Priority </a:t>
            </a: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Vektor</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K3 )</a:t>
            </a:r>
          </a:p>
          <a:p>
            <a:pPr marL="0" marR="0" indent="45720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(1.83 x 0.546) + (3.5 x 0.285) + ( 6 x 0.166)</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0.999 + 0.997 +0.996 =  3.00</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2000" b="1"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a:t>
            </a:r>
            <a:r>
              <a:rPr lang="en-US" sz="2000" b="1" baseline="-25000" dirty="0" err="1">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Indek</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000" b="1" baseline="-25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max</a:t>
            </a: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n) / (n – 1) </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( 3.00 – 3 ) / ( 3-1 )       = 0 / 2    =   0</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CR	= C1 / R1</a:t>
            </a:r>
          </a:p>
          <a:p>
            <a:pPr marL="0" marR="0">
              <a:lnSpc>
                <a:spcPct val="107000"/>
              </a:lnSpc>
              <a:spcBef>
                <a:spcPts val="0"/>
              </a:spcBef>
              <a:spcAft>
                <a:spcPts val="0"/>
              </a:spcAft>
            </a:pPr>
            <a:r>
              <a:rPr lang="en-US" sz="2000" b="1"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               = 0 / 0.58   =  0 </a:t>
            </a:r>
          </a:p>
        </p:txBody>
      </p:sp>
      <p:pic>
        <p:nvPicPr>
          <p:cNvPr id="10" name="Picture 9">
            <a:extLst>
              <a:ext uri="{FF2B5EF4-FFF2-40B4-BE49-F238E27FC236}">
                <a16:creationId xmlns:a16="http://schemas.microsoft.com/office/drawing/2014/main" id="{5AAAD6E6-1F50-4CE9-B830-9822CF74755C}"/>
              </a:ext>
            </a:extLst>
          </p:cNvPr>
          <p:cNvPicPr>
            <a:picLocks noChangeAspect="1"/>
          </p:cNvPicPr>
          <p:nvPr/>
        </p:nvPicPr>
        <p:blipFill rotWithShape="1">
          <a:blip r:embed="rId2"/>
          <a:srcRect l="25670" t="35601" r="25000" b="42406"/>
          <a:stretch/>
        </p:blipFill>
        <p:spPr>
          <a:xfrm>
            <a:off x="-18315" y="0"/>
            <a:ext cx="12292014" cy="2607530"/>
          </a:xfrm>
          <a:prstGeom prst="rect">
            <a:avLst/>
          </a:prstGeom>
        </p:spPr>
      </p:pic>
    </p:spTree>
    <p:extLst>
      <p:ext uri="{BB962C8B-B14F-4D97-AF65-F5344CB8AC3E}">
        <p14:creationId xmlns:p14="http://schemas.microsoft.com/office/powerpoint/2010/main" val="1204635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1158" y="4616600"/>
            <a:ext cx="12192000" cy="1079500"/>
          </a:xfrm>
        </p:spPr>
        <p:txBody>
          <a:bodyPr>
            <a:normAutofit fontScale="90000"/>
          </a:bodyPr>
          <a:lstStyle/>
          <a:p>
            <a:pPr algn="l"/>
            <a:r>
              <a:rPr lang="en-US" sz="2700" dirty="0">
                <a:solidFill>
                  <a:srgbClr val="FFFF00"/>
                </a:solidFill>
              </a:rPr>
              <a:t>Setelah </a:t>
            </a:r>
            <a:r>
              <a:rPr lang="en-US" sz="2700" dirty="0" err="1">
                <a:solidFill>
                  <a:srgbClr val="FFFF00"/>
                </a:solidFill>
              </a:rPr>
              <a:t>mendapatkan</a:t>
            </a:r>
            <a:r>
              <a:rPr lang="en-US" sz="2700" dirty="0">
                <a:solidFill>
                  <a:srgbClr val="FFFF00"/>
                </a:solidFill>
              </a:rPr>
              <a:t> </a:t>
            </a:r>
            <a:r>
              <a:rPr lang="en-US" sz="2700" dirty="0" err="1">
                <a:solidFill>
                  <a:srgbClr val="FFFF00"/>
                </a:solidFill>
              </a:rPr>
              <a:t>bobot</a:t>
            </a:r>
            <a:r>
              <a:rPr lang="en-US" sz="2700" dirty="0">
                <a:solidFill>
                  <a:srgbClr val="FFFF00"/>
                </a:solidFill>
              </a:rPr>
              <a:t> </a:t>
            </a:r>
            <a:r>
              <a:rPr lang="en-US" sz="2700" dirty="0" err="1">
                <a:solidFill>
                  <a:srgbClr val="FFFF00"/>
                </a:solidFill>
              </a:rPr>
              <a:t>untuk</a:t>
            </a:r>
            <a:r>
              <a:rPr lang="en-US" sz="2700" dirty="0">
                <a:solidFill>
                  <a:srgbClr val="FFFF00"/>
                </a:solidFill>
              </a:rPr>
              <a:t> </a:t>
            </a:r>
            <a:r>
              <a:rPr lang="en-US" sz="2700" dirty="0" err="1">
                <a:solidFill>
                  <a:srgbClr val="FFFF00"/>
                </a:solidFill>
              </a:rPr>
              <a:t>ketiga</a:t>
            </a:r>
            <a:r>
              <a:rPr lang="en-US" sz="2700" dirty="0">
                <a:solidFill>
                  <a:srgbClr val="FFFF00"/>
                </a:solidFill>
              </a:rPr>
              <a:t> </a:t>
            </a:r>
            <a:r>
              <a:rPr lang="en-US" sz="2700" dirty="0" err="1">
                <a:solidFill>
                  <a:srgbClr val="FFFF00"/>
                </a:solidFill>
              </a:rPr>
              <a:t>kriteria</a:t>
            </a:r>
            <a:r>
              <a:rPr lang="en-US" sz="2700" dirty="0">
                <a:solidFill>
                  <a:srgbClr val="FFFF00"/>
                </a:solidFill>
              </a:rPr>
              <a:t> dan </a:t>
            </a:r>
            <a:r>
              <a:rPr lang="en-US" sz="2700" dirty="0" err="1">
                <a:solidFill>
                  <a:srgbClr val="FFFF00"/>
                </a:solidFill>
              </a:rPr>
              <a:t>skor</a:t>
            </a:r>
            <a:r>
              <a:rPr lang="en-US" sz="2700" dirty="0">
                <a:solidFill>
                  <a:srgbClr val="FFFF00"/>
                </a:solidFill>
              </a:rPr>
              <a:t> </a:t>
            </a:r>
            <a:r>
              <a:rPr lang="en-US" sz="2700" dirty="0" err="1">
                <a:solidFill>
                  <a:srgbClr val="FFFF00"/>
                </a:solidFill>
              </a:rPr>
              <a:t>untuk</a:t>
            </a:r>
            <a:r>
              <a:rPr lang="en-US" sz="2700" dirty="0">
                <a:solidFill>
                  <a:srgbClr val="FFFF00"/>
                </a:solidFill>
              </a:rPr>
              <a:t> masing-masing </a:t>
            </a:r>
            <a:r>
              <a:rPr lang="en-US" sz="2700" dirty="0" err="1">
                <a:solidFill>
                  <a:srgbClr val="FFFF00"/>
                </a:solidFill>
              </a:rPr>
              <a:t>kriteria</a:t>
            </a:r>
            <a:r>
              <a:rPr lang="en-US" sz="2700" dirty="0">
                <a:solidFill>
                  <a:srgbClr val="FFFF00"/>
                </a:solidFill>
              </a:rPr>
              <a:t> </a:t>
            </a:r>
            <a:r>
              <a:rPr lang="en-US" sz="2700" dirty="0" err="1">
                <a:solidFill>
                  <a:srgbClr val="FFFF00"/>
                </a:solidFill>
              </a:rPr>
              <a:t>bagi</a:t>
            </a:r>
            <a:r>
              <a:rPr lang="en-US" sz="2700" dirty="0">
                <a:solidFill>
                  <a:srgbClr val="FFFF00"/>
                </a:solidFill>
              </a:rPr>
              <a:t> </a:t>
            </a:r>
            <a:r>
              <a:rPr lang="en-US" sz="2700" dirty="0" err="1">
                <a:solidFill>
                  <a:srgbClr val="FFFF00"/>
                </a:solidFill>
              </a:rPr>
              <a:t>ketiga</a:t>
            </a:r>
            <a:r>
              <a:rPr lang="en-US" sz="2700" dirty="0">
                <a:solidFill>
                  <a:srgbClr val="FFFF00"/>
                </a:solidFill>
              </a:rPr>
              <a:t> </a:t>
            </a:r>
            <a:r>
              <a:rPr lang="en-US" sz="2700" dirty="0" err="1">
                <a:solidFill>
                  <a:srgbClr val="FFFF00"/>
                </a:solidFill>
              </a:rPr>
              <a:t>pacarnya</a:t>
            </a:r>
            <a:r>
              <a:rPr lang="en-US" sz="2700" dirty="0">
                <a:solidFill>
                  <a:srgbClr val="FFFF00"/>
                </a:solidFill>
              </a:rPr>
              <a:t>, </a:t>
            </a:r>
            <a:r>
              <a:rPr lang="en-US" sz="2700" dirty="0" err="1">
                <a:solidFill>
                  <a:srgbClr val="FFFF00"/>
                </a:solidFill>
              </a:rPr>
              <a:t>maka</a:t>
            </a:r>
            <a:r>
              <a:rPr lang="en-US" sz="2700" dirty="0">
                <a:solidFill>
                  <a:srgbClr val="FFFF00"/>
                </a:solidFill>
              </a:rPr>
              <a:t> </a:t>
            </a:r>
            <a:r>
              <a:rPr lang="en-US" sz="2700" dirty="0" err="1">
                <a:solidFill>
                  <a:srgbClr val="FFFF00"/>
                </a:solidFill>
              </a:rPr>
              <a:t>langkah</a:t>
            </a:r>
            <a:r>
              <a:rPr lang="en-US" sz="2700" dirty="0">
                <a:solidFill>
                  <a:srgbClr val="FFFF00"/>
                </a:solidFill>
              </a:rPr>
              <a:t> </a:t>
            </a:r>
            <a:r>
              <a:rPr lang="en-US" sz="2700" dirty="0" err="1">
                <a:solidFill>
                  <a:srgbClr val="FFFF00"/>
                </a:solidFill>
              </a:rPr>
              <a:t>terakhir</a:t>
            </a:r>
            <a:r>
              <a:rPr lang="en-US" sz="2700" dirty="0">
                <a:solidFill>
                  <a:srgbClr val="FFFF00"/>
                </a:solidFill>
              </a:rPr>
              <a:t> </a:t>
            </a:r>
            <a:r>
              <a:rPr lang="en-US" sz="2700" dirty="0" err="1">
                <a:solidFill>
                  <a:srgbClr val="FFFF00"/>
                </a:solidFill>
              </a:rPr>
              <a:t>adalah</a:t>
            </a:r>
            <a:r>
              <a:rPr lang="en-US" sz="2700" dirty="0">
                <a:solidFill>
                  <a:srgbClr val="FFFF00"/>
                </a:solidFill>
              </a:rPr>
              <a:t> </a:t>
            </a:r>
            <a:r>
              <a:rPr lang="en-US" sz="2700" dirty="0" err="1">
                <a:solidFill>
                  <a:srgbClr val="FFFF00"/>
                </a:solidFill>
              </a:rPr>
              <a:t>menghitung</a:t>
            </a:r>
            <a:r>
              <a:rPr lang="en-US" sz="2700" dirty="0">
                <a:solidFill>
                  <a:srgbClr val="FFFF00"/>
                </a:solidFill>
              </a:rPr>
              <a:t> total </a:t>
            </a:r>
            <a:r>
              <a:rPr lang="en-US" sz="2700" dirty="0" err="1">
                <a:solidFill>
                  <a:srgbClr val="FFFF00"/>
                </a:solidFill>
              </a:rPr>
              <a:t>skor</a:t>
            </a:r>
            <a:r>
              <a:rPr lang="en-US" sz="2700" dirty="0">
                <a:solidFill>
                  <a:srgbClr val="FFFF00"/>
                </a:solidFill>
              </a:rPr>
              <a:t> </a:t>
            </a:r>
            <a:r>
              <a:rPr lang="en-US" sz="2700" dirty="0" err="1">
                <a:solidFill>
                  <a:srgbClr val="FFFF00"/>
                </a:solidFill>
              </a:rPr>
              <a:t>untuk</a:t>
            </a:r>
            <a:r>
              <a:rPr lang="en-US" sz="2700" dirty="0">
                <a:solidFill>
                  <a:srgbClr val="FFFF00"/>
                </a:solidFill>
              </a:rPr>
              <a:t> </a:t>
            </a:r>
            <a:r>
              <a:rPr lang="en-US" sz="2700" dirty="0" err="1">
                <a:solidFill>
                  <a:srgbClr val="FFFF00"/>
                </a:solidFill>
              </a:rPr>
              <a:t>ketiga</a:t>
            </a:r>
            <a:r>
              <a:rPr lang="en-US" sz="2700" dirty="0">
                <a:solidFill>
                  <a:srgbClr val="FFFF00"/>
                </a:solidFill>
              </a:rPr>
              <a:t> </a:t>
            </a:r>
            <a:r>
              <a:rPr lang="en-US" sz="2700" dirty="0" err="1">
                <a:solidFill>
                  <a:srgbClr val="FFFF00"/>
                </a:solidFill>
              </a:rPr>
              <a:t>pacarnya</a:t>
            </a:r>
            <a:r>
              <a:rPr lang="en-US" sz="2700" dirty="0">
                <a:solidFill>
                  <a:srgbClr val="FFFF00"/>
                </a:solidFill>
              </a:rPr>
              <a:t>. </a:t>
            </a:r>
            <a:r>
              <a:rPr lang="en-US" sz="2700" dirty="0" err="1">
                <a:solidFill>
                  <a:srgbClr val="FFFF00"/>
                </a:solidFill>
              </a:rPr>
              <a:t>Untuk</a:t>
            </a:r>
            <a:r>
              <a:rPr lang="en-US" sz="2700" dirty="0">
                <a:solidFill>
                  <a:srgbClr val="FFFF00"/>
                </a:solidFill>
              </a:rPr>
              <a:t> </a:t>
            </a:r>
            <a:r>
              <a:rPr lang="en-US" sz="2700" dirty="0" err="1">
                <a:solidFill>
                  <a:srgbClr val="FFFF00"/>
                </a:solidFill>
              </a:rPr>
              <a:t>itu</a:t>
            </a:r>
            <a:r>
              <a:rPr lang="en-US" sz="2700" dirty="0">
                <a:solidFill>
                  <a:srgbClr val="FFFF00"/>
                </a:solidFill>
              </a:rPr>
              <a:t> JOKO </a:t>
            </a:r>
            <a:r>
              <a:rPr lang="en-US" sz="2700" dirty="0" err="1">
                <a:solidFill>
                  <a:srgbClr val="FFFF00"/>
                </a:solidFill>
              </a:rPr>
              <a:t>akan</a:t>
            </a:r>
            <a:r>
              <a:rPr lang="en-US" sz="2700" dirty="0">
                <a:solidFill>
                  <a:srgbClr val="FFFF00"/>
                </a:solidFill>
              </a:rPr>
              <a:t> </a:t>
            </a:r>
            <a:r>
              <a:rPr lang="en-US" sz="2700" dirty="0" err="1">
                <a:solidFill>
                  <a:srgbClr val="FFFF00"/>
                </a:solidFill>
              </a:rPr>
              <a:t>merangkum</a:t>
            </a:r>
            <a:r>
              <a:rPr lang="en-US" sz="2700" dirty="0">
                <a:solidFill>
                  <a:srgbClr val="FFFF00"/>
                </a:solidFill>
              </a:rPr>
              <a:t> </a:t>
            </a:r>
            <a:r>
              <a:rPr lang="en-US" sz="2700" dirty="0" err="1">
                <a:solidFill>
                  <a:srgbClr val="FFFF00"/>
                </a:solidFill>
              </a:rPr>
              <a:t>semua</a:t>
            </a:r>
            <a:r>
              <a:rPr lang="en-US" sz="2700" dirty="0">
                <a:solidFill>
                  <a:srgbClr val="FFFF00"/>
                </a:solidFill>
              </a:rPr>
              <a:t> </a:t>
            </a:r>
            <a:r>
              <a:rPr lang="en-US" sz="2700" dirty="0" err="1">
                <a:solidFill>
                  <a:srgbClr val="FFFF00"/>
                </a:solidFill>
              </a:rPr>
              <a:t>hasil</a:t>
            </a:r>
            <a:r>
              <a:rPr lang="en-US" sz="2700" dirty="0">
                <a:solidFill>
                  <a:srgbClr val="FFFF00"/>
                </a:solidFill>
              </a:rPr>
              <a:t> </a:t>
            </a:r>
            <a:r>
              <a:rPr lang="en-US" sz="2700" dirty="0" err="1">
                <a:solidFill>
                  <a:srgbClr val="FFFF00"/>
                </a:solidFill>
              </a:rPr>
              <a:t>penilaiannya</a:t>
            </a:r>
            <a:r>
              <a:rPr lang="en-US" sz="2700" dirty="0">
                <a:solidFill>
                  <a:srgbClr val="FFFF00"/>
                </a:solidFill>
              </a:rPr>
              <a:t> </a:t>
            </a:r>
            <a:r>
              <a:rPr lang="en-US" sz="2700" dirty="0" err="1">
                <a:solidFill>
                  <a:srgbClr val="FFFF00"/>
                </a:solidFill>
              </a:rPr>
              <a:t>tersebut</a:t>
            </a:r>
            <a:r>
              <a:rPr lang="en-US" sz="2700" dirty="0">
                <a:solidFill>
                  <a:srgbClr val="FFFF00"/>
                </a:solidFill>
              </a:rPr>
              <a:t> </a:t>
            </a:r>
            <a:r>
              <a:rPr lang="en-US" sz="2700" dirty="0" err="1">
                <a:solidFill>
                  <a:srgbClr val="FFFF00"/>
                </a:solidFill>
              </a:rPr>
              <a:t>dalam</a:t>
            </a:r>
            <a:r>
              <a:rPr lang="en-US" sz="2700" dirty="0">
                <a:solidFill>
                  <a:srgbClr val="FFFF00"/>
                </a:solidFill>
              </a:rPr>
              <a:t> </a:t>
            </a:r>
            <a:r>
              <a:rPr lang="en-US" sz="2700" dirty="0" err="1">
                <a:solidFill>
                  <a:srgbClr val="FFFF00"/>
                </a:solidFill>
              </a:rPr>
              <a:t>bentuk</a:t>
            </a:r>
            <a:r>
              <a:rPr lang="en-US" sz="2700" dirty="0">
                <a:solidFill>
                  <a:srgbClr val="FFFF00"/>
                </a:solidFill>
              </a:rPr>
              <a:t> </a:t>
            </a:r>
            <a:r>
              <a:rPr lang="en-US" sz="2700" dirty="0" err="1">
                <a:solidFill>
                  <a:srgbClr val="FFFF00"/>
                </a:solidFill>
              </a:rPr>
              <a:t>tabel</a:t>
            </a:r>
            <a:r>
              <a:rPr lang="en-US" sz="2700" dirty="0">
                <a:solidFill>
                  <a:srgbClr val="FFFF00"/>
                </a:solidFill>
              </a:rPr>
              <a:t> yang </a:t>
            </a:r>
            <a:r>
              <a:rPr lang="en-US" sz="2700" dirty="0" err="1">
                <a:solidFill>
                  <a:srgbClr val="FFFF00"/>
                </a:solidFill>
              </a:rPr>
              <a:t>disebut</a:t>
            </a:r>
            <a:r>
              <a:rPr lang="en-US" sz="2700" dirty="0">
                <a:solidFill>
                  <a:srgbClr val="FFFF00"/>
                </a:solidFill>
              </a:rPr>
              <a:t> </a:t>
            </a:r>
            <a:r>
              <a:rPr lang="en-US" b="1" dirty="0">
                <a:solidFill>
                  <a:srgbClr val="FFFF00"/>
                </a:solidFill>
              </a:rPr>
              <a:t>Overall composite weight</a:t>
            </a:r>
            <a:br>
              <a:rPr lang="en-US" dirty="0"/>
            </a:br>
            <a:endParaRPr lang="en-US" dirty="0"/>
          </a:p>
        </p:txBody>
      </p:sp>
      <p:sp>
        <p:nvSpPr>
          <p:cNvPr id="6" name="Rectangle 5"/>
          <p:cNvSpPr/>
          <p:nvPr/>
        </p:nvSpPr>
        <p:spPr>
          <a:xfrm>
            <a:off x="171158" y="6139534"/>
            <a:ext cx="12100205" cy="718466"/>
          </a:xfrm>
          <a:prstGeom prst="rect">
            <a:avLst/>
          </a:prstGeom>
        </p:spPr>
        <p:txBody>
          <a:bodyPr wrap="square">
            <a:spAutoFit/>
          </a:bodyPr>
          <a:lstStyle/>
          <a:p>
            <a:pPr>
              <a:lnSpc>
                <a:spcPct val="107000"/>
              </a:lnSpc>
              <a:spcAft>
                <a:spcPts val="800"/>
              </a:spcAft>
            </a:pPr>
            <a:r>
              <a:rPr lang="en-US" sz="4000"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AKhirnya</a:t>
            </a:r>
            <a:r>
              <a:rPr lang="en-US" sz="40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JOKO </a:t>
            </a:r>
            <a:r>
              <a:rPr lang="en-US" sz="4000"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akan</a:t>
            </a:r>
            <a:r>
              <a:rPr lang="en-US" sz="40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4000"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memilih</a:t>
            </a:r>
            <a:r>
              <a:rPr lang="en-US" sz="40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4000"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Yayu</a:t>
            </a:r>
            <a:r>
              <a:rPr lang="en-US" sz="40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4000"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sebagai</a:t>
            </a:r>
            <a:r>
              <a:rPr lang="en-US" sz="40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4000" dirty="0" err="1">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istrinya</a:t>
            </a:r>
            <a:r>
              <a:rPr lang="en-US" sz="40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4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6D97640-6C5E-491F-97B8-6EB77833CE68}"/>
              </a:ext>
            </a:extLst>
          </p:cNvPr>
          <p:cNvPicPr>
            <a:picLocks noChangeAspect="1"/>
          </p:cNvPicPr>
          <p:nvPr/>
        </p:nvPicPr>
        <p:blipFill rotWithShape="1">
          <a:blip r:embed="rId2"/>
          <a:srcRect l="25669" t="38488" r="24846" b="32683"/>
          <a:stretch/>
        </p:blipFill>
        <p:spPr>
          <a:xfrm>
            <a:off x="0" y="0"/>
            <a:ext cx="12363158" cy="3987538"/>
          </a:xfrm>
          <a:prstGeom prst="rect">
            <a:avLst/>
          </a:prstGeom>
        </p:spPr>
      </p:pic>
    </p:spTree>
    <p:extLst>
      <p:ext uri="{BB962C8B-B14F-4D97-AF65-F5344CB8AC3E}">
        <p14:creationId xmlns:p14="http://schemas.microsoft.com/office/powerpoint/2010/main" val="473695497"/>
      </p:ext>
    </p:extLst>
  </p:cSld>
  <p:clrMapOvr>
    <a:masterClrMapping/>
  </p:clrMapOvr>
</p:sld>
</file>

<file path=ppt/theme/theme1.xml><?xml version="1.0" encoding="utf-8"?>
<a:theme xmlns:a="http://schemas.openxmlformats.org/drawingml/2006/main" name="pk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pkm</Template>
  <TotalTime>626</TotalTime>
  <Words>1365</Words>
  <Application>Microsoft Office PowerPoint</Application>
  <PresentationFormat>Widescreen</PresentationFormat>
  <Paragraphs>103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Courier New</vt:lpstr>
      <vt:lpstr>Georgia</vt:lpstr>
      <vt:lpstr>Symbol</vt:lpstr>
      <vt:lpstr>Times New Roman</vt:lpstr>
      <vt:lpstr>Tw Cen MT Condensed Extra Bold</vt:lpstr>
      <vt:lpstr>pkm</vt:lpstr>
      <vt:lpstr>Sistem Pendukung Keputusan (Decision Support System)  12</vt:lpstr>
      <vt:lpstr>AHP (Analytic Hierarchy Process) </vt:lpstr>
      <vt:lpstr>Analytic Hierarchy Process (AHP)</vt:lpstr>
      <vt:lpstr>PowerPoint Presentation</vt:lpstr>
      <vt:lpstr>PowerPoint Presentation</vt:lpstr>
      <vt:lpstr>Analytic Hierarchy Process (AHP) Prinsip Dasar AHP (Prof. Thomas L. Saaty, 1980) : </vt:lpstr>
      <vt:lpstr>Keunggulan AHP : </vt:lpstr>
      <vt:lpstr>Kelemahan metode AHP </vt:lpstr>
      <vt:lpstr>Beberapa contoh aplikasi AHP adalah sebagai berikut: </vt:lpstr>
      <vt:lpstr>Dalam memilih istri, Si JOKO mempunyai 3 kriteria, yaitu :    ceweknya harus cantik, memiliki tingkat pendidikan yang tinggi dan berasal dari keluarga yang kaya.  Saat ini Bangbang memiliki 3 orang pacar, yang dipacarinya secara bergantian Fitri, Yayu dan Grace.</vt:lpstr>
      <vt:lpstr>PowerPoint Presentation</vt:lpstr>
      <vt:lpstr>PowerPoint Presentation</vt:lpstr>
      <vt:lpstr>PowerPoint Presentation</vt:lpstr>
      <vt:lpstr>PowerPoint Presentation</vt:lpstr>
      <vt:lpstr>Si Yayu yang sehari-hari bekerja sebagai kasir di sebuah toko swalayan hanya   tamatan SMA.   Grace yang menduduki salah satu direksi di perusahaan keluarganya adalah lulusan S1 ekonomi dari salah satu perguruan tinggi negeri di Jakarta.  Sedangkan Fitri adalah teman kuliahnya di program paska sarjana salah satu perguruan tinggi di Bandung.   JOKO memberi bobot pendidikan untuk ketiga pacarnya sbb: </vt:lpstr>
      <vt:lpstr>PowerPoint Presentation</vt:lpstr>
      <vt:lpstr>PowerPoint Presentation</vt:lpstr>
      <vt:lpstr>Setelah mendapatkan bobot untuk ketiga kriteria dan skor untuk masing-masing kriteria bagi ketiga pacarnya, maka langkah terakhir adalah menghitung total skor untuk ketiga pacarnya. Untuk itu JOKO akan merangkum semua hasil penilaiannya tersebut dalam bentuk tabel yang disebut Overall composite weight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Pendukung Keputusan (Decision Support System) 11</dc:title>
  <dc:creator>Acer</dc:creator>
  <cp:lastModifiedBy>Lilis Nur Hayati</cp:lastModifiedBy>
  <cp:revision>51</cp:revision>
  <dcterms:created xsi:type="dcterms:W3CDTF">2014-11-16T00:41:44Z</dcterms:created>
  <dcterms:modified xsi:type="dcterms:W3CDTF">2020-11-30T10:50:32Z</dcterms:modified>
</cp:coreProperties>
</file>