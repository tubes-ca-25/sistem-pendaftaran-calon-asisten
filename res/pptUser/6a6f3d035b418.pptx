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lacial Indifference Bold" charset="1" panose="00000800000000000000"/>
      <p:regular r:id="rId17"/>
    </p:embeddedFont>
    <p:embeddedFont>
      <p:font typeface="Glacial Indifference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Relationship Id="rId4" Target="../media/image3.gif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gif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gif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gif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gif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gif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gif" Type="http://schemas.openxmlformats.org/officeDocument/2006/relationships/image"/><Relationship Id="rId3" Target="../media/image29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0535676" y="267742"/>
            <a:ext cx="2000894" cy="319226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578884">
            <a:off x="10863146" y="7213683"/>
            <a:ext cx="1560127" cy="1483702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4015499" y="8931190"/>
            <a:ext cx="5920273" cy="1776082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1028700" y="1245131"/>
            <a:ext cx="282836" cy="327110"/>
            <a:chOff x="0" y="0"/>
            <a:chExt cx="702788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2788" cy="812800"/>
            </a:xfrm>
            <a:custGeom>
              <a:avLst/>
              <a:gdLst/>
              <a:ahLst/>
              <a:cxnLst/>
              <a:rect r="r" b="b" t="t" l="l"/>
              <a:pathLst>
                <a:path h="812800" w="702788">
                  <a:moveTo>
                    <a:pt x="0" y="0"/>
                  </a:moveTo>
                  <a:lnTo>
                    <a:pt x="702788" y="0"/>
                  </a:lnTo>
                  <a:lnTo>
                    <a:pt x="70278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EBE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702788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17645" y="1245131"/>
            <a:ext cx="282836" cy="327110"/>
            <a:chOff x="0" y="0"/>
            <a:chExt cx="702788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2788" cy="812800"/>
            </a:xfrm>
            <a:custGeom>
              <a:avLst/>
              <a:gdLst/>
              <a:ahLst/>
              <a:cxnLst/>
              <a:rect r="r" b="b" t="t" l="l"/>
              <a:pathLst>
                <a:path h="812800" w="702788">
                  <a:moveTo>
                    <a:pt x="0" y="0"/>
                  </a:moveTo>
                  <a:lnTo>
                    <a:pt x="702788" y="0"/>
                  </a:lnTo>
                  <a:lnTo>
                    <a:pt x="70278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702788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2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078878" y="2435603"/>
            <a:ext cx="5415794" cy="5415794"/>
          </a:xfrm>
          <a:custGeom>
            <a:avLst/>
            <a:gdLst/>
            <a:ahLst/>
            <a:cxnLst/>
            <a:rect r="r" b="b" t="t" l="l"/>
            <a:pathLst>
              <a:path h="5415794" w="5415794">
                <a:moveTo>
                  <a:pt x="0" y="0"/>
                </a:moveTo>
                <a:lnTo>
                  <a:pt x="5415794" y="0"/>
                </a:lnTo>
                <a:lnTo>
                  <a:pt x="5415794" y="5415794"/>
                </a:lnTo>
                <a:lnTo>
                  <a:pt x="0" y="54157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2559666"/>
            <a:ext cx="8542321" cy="453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81"/>
              </a:lnSpc>
            </a:pPr>
            <a:r>
              <a:rPr lang="en-US" sz="12296" spc="-258" b="true">
                <a:solidFill>
                  <a:srgbClr val="FFFFF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Operator dasar dalam c++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020210"/>
            <a:ext cx="7386125" cy="279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2"/>
              </a:lnSpc>
            </a:pPr>
            <a:r>
              <a:rPr lang="en-US" sz="2202" spc="-46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M. RIZWAN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629812"/>
            <a:ext cx="7386125" cy="279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2"/>
              </a:lnSpc>
            </a:pPr>
            <a:r>
              <a:rPr lang="en-US" sz="2202" spc="-46" b="true">
                <a:solidFill>
                  <a:srgbClr val="FFFFF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Nama 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06590" y="1292756"/>
            <a:ext cx="5645384" cy="279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2"/>
              </a:lnSpc>
            </a:pPr>
            <a:r>
              <a:rPr lang="en-US" b="true" sz="2202" spc="301">
                <a:solidFill>
                  <a:srgbClr val="FFFFF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UNIVERSITAS MUSLIM INDONESIA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588417"/>
            <a:ext cx="7386125" cy="279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2"/>
              </a:lnSpc>
            </a:pPr>
            <a:r>
              <a:rPr lang="en-US" sz="2202" spc="-46" b="true">
                <a:solidFill>
                  <a:srgbClr val="FFFFF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Stambuk 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8978815"/>
            <a:ext cx="7386125" cy="279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2"/>
              </a:lnSpc>
            </a:pPr>
            <a:r>
              <a:rPr lang="en-US" sz="2202" spc="-46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13020230100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07826" y="3585845"/>
            <a:ext cx="5672347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0"/>
              </a:lnSpc>
            </a:pPr>
            <a:r>
              <a:rPr lang="en-US" b="true" sz="5000" spc="-105">
                <a:solidFill>
                  <a:srgbClr val="FFFFF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Apa itu operator?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8317504" y="5919075"/>
            <a:ext cx="1652992" cy="380188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528861" y="4665345"/>
            <a:ext cx="11230278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b="true" sz="3000" spc="-63">
                <a:solidFill>
                  <a:srgbClr val="FFFFF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Operator adalah sebuah simbol yang digunakan untuk melakukan operasi pada operand (variabel atau nilai)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92602" y="2181848"/>
            <a:ext cx="5966698" cy="5923304"/>
          </a:xfrm>
          <a:custGeom>
            <a:avLst/>
            <a:gdLst/>
            <a:ahLst/>
            <a:cxnLst/>
            <a:rect r="r" b="b" t="t" l="l"/>
            <a:pathLst>
              <a:path h="5923304" w="5966698">
                <a:moveTo>
                  <a:pt x="0" y="0"/>
                </a:moveTo>
                <a:lnTo>
                  <a:pt x="5966698" y="0"/>
                </a:lnTo>
                <a:lnTo>
                  <a:pt x="5966698" y="5923304"/>
                </a:lnTo>
                <a:lnTo>
                  <a:pt x="0" y="5923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02873" y="4853575"/>
            <a:ext cx="1251257" cy="1369365"/>
          </a:xfrm>
          <a:custGeom>
            <a:avLst/>
            <a:gdLst/>
            <a:ahLst/>
            <a:cxnLst/>
            <a:rect r="r" b="b" t="t" l="l"/>
            <a:pathLst>
              <a:path h="1369365" w="1251257">
                <a:moveTo>
                  <a:pt x="0" y="0"/>
                </a:moveTo>
                <a:lnTo>
                  <a:pt x="1251257" y="0"/>
                </a:lnTo>
                <a:lnTo>
                  <a:pt x="1251257" y="1369365"/>
                </a:lnTo>
                <a:lnTo>
                  <a:pt x="0" y="1369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635103"/>
            <a:ext cx="8779372" cy="3668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8051" indent="-449025" lvl="1">
              <a:lnSpc>
                <a:spcPts val="5823"/>
              </a:lnSpc>
              <a:buAutoNum type="arabicPeriod" startAt="1"/>
            </a:pPr>
            <a:r>
              <a:rPr lang="en-US" sz="4159" spc="-87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Operator Aritmatika</a:t>
            </a:r>
          </a:p>
          <a:p>
            <a:pPr algn="l" marL="898051" indent="-449025" lvl="1">
              <a:lnSpc>
                <a:spcPts val="5823"/>
              </a:lnSpc>
              <a:buAutoNum type="arabicPeriod" startAt="1"/>
            </a:pPr>
            <a:r>
              <a:rPr lang="en-US" sz="4159" spc="-87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Operator Pembanding</a:t>
            </a:r>
          </a:p>
          <a:p>
            <a:pPr algn="l" marL="898051" indent="-449025" lvl="1">
              <a:lnSpc>
                <a:spcPts val="5823"/>
              </a:lnSpc>
              <a:buAutoNum type="arabicPeriod" startAt="1"/>
            </a:pPr>
            <a:r>
              <a:rPr lang="en-US" sz="4159" spc="-87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Operator Logika</a:t>
            </a:r>
          </a:p>
          <a:p>
            <a:pPr algn="l" marL="898051" indent="-449025" lvl="1">
              <a:lnSpc>
                <a:spcPts val="5823"/>
              </a:lnSpc>
              <a:buAutoNum type="arabicPeriod" startAt="1"/>
            </a:pPr>
            <a:r>
              <a:rPr lang="en-US" sz="4159" spc="-87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Operator Penugasan</a:t>
            </a:r>
          </a:p>
          <a:p>
            <a:pPr algn="l" marL="898051" indent="-449025" lvl="1">
              <a:lnSpc>
                <a:spcPts val="5823"/>
              </a:lnSpc>
              <a:buAutoNum type="arabicPeriod" startAt="1"/>
            </a:pPr>
            <a:r>
              <a:rPr lang="en-US" sz="4159" spc="-87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Operator Increment &amp; Decrement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378096"/>
            <a:ext cx="8115300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5000" spc="-105" b="true">
                <a:solidFill>
                  <a:srgbClr val="FFFFF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Kategori operator di C++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028700" y="7368932"/>
            <a:ext cx="3505562" cy="788751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10489393" y="2339994"/>
            <a:ext cx="7341423" cy="5607012"/>
          </a:xfrm>
          <a:custGeom>
            <a:avLst/>
            <a:gdLst/>
            <a:ahLst/>
            <a:cxnLst/>
            <a:rect r="r" b="b" t="t" l="l"/>
            <a:pathLst>
              <a:path h="5607012" w="7341423">
                <a:moveTo>
                  <a:pt x="0" y="0"/>
                </a:moveTo>
                <a:lnTo>
                  <a:pt x="7341423" y="0"/>
                </a:lnTo>
                <a:lnTo>
                  <a:pt x="7341423" y="5607012"/>
                </a:lnTo>
                <a:lnTo>
                  <a:pt x="0" y="56070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469132"/>
            <a:ext cx="8115300" cy="3186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5162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Penjumlahan (+)</a:t>
            </a:r>
          </a:p>
          <a:p>
            <a:pPr algn="l" marL="626111" indent="-313055" lvl="1">
              <a:lnSpc>
                <a:spcPts val="5162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Pengurangan (-)</a:t>
            </a:r>
          </a:p>
          <a:p>
            <a:pPr algn="l" marL="626111" indent="-313055" lvl="1">
              <a:lnSpc>
                <a:spcPts val="5162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Perkalian (*)</a:t>
            </a:r>
          </a:p>
          <a:p>
            <a:pPr algn="l" marL="626111" indent="-313055" lvl="1">
              <a:lnSpc>
                <a:spcPts val="5162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Pembagian (/)</a:t>
            </a:r>
          </a:p>
          <a:p>
            <a:pPr algn="l" marL="626111" indent="-313055" lvl="1">
              <a:lnSpc>
                <a:spcPts val="5162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Modulus (%)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272157"/>
            <a:ext cx="8115300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5000" spc="-105" b="true">
                <a:solidFill>
                  <a:srgbClr val="FFFFF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Operator Aritmatika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028700" y="8018018"/>
            <a:ext cx="3505562" cy="788751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10912663" y="1901824"/>
            <a:ext cx="6346637" cy="7131053"/>
          </a:xfrm>
          <a:custGeom>
            <a:avLst/>
            <a:gdLst/>
            <a:ahLst/>
            <a:cxnLst/>
            <a:rect r="r" b="b" t="t" l="l"/>
            <a:pathLst>
              <a:path h="7131053" w="6346637">
                <a:moveTo>
                  <a:pt x="0" y="0"/>
                </a:moveTo>
                <a:lnTo>
                  <a:pt x="6346637" y="0"/>
                </a:lnTo>
                <a:lnTo>
                  <a:pt x="6346637" y="7131052"/>
                </a:lnTo>
                <a:lnTo>
                  <a:pt x="0" y="71310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469132"/>
            <a:ext cx="8115300" cy="383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5162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Sama dengan (==)</a:t>
            </a:r>
          </a:p>
          <a:p>
            <a:pPr algn="l" marL="626111" indent="-313055" lvl="1">
              <a:lnSpc>
                <a:spcPts val="5162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Tidak sama dengan (!=)</a:t>
            </a:r>
          </a:p>
          <a:p>
            <a:pPr algn="l" marL="626111" indent="-313055" lvl="1">
              <a:lnSpc>
                <a:spcPts val="5162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Lebih besar (&gt;)</a:t>
            </a:r>
          </a:p>
          <a:p>
            <a:pPr algn="l" marL="626111" indent="-313055" lvl="1">
              <a:lnSpc>
                <a:spcPts val="5162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Lebih kecil (&lt;)</a:t>
            </a:r>
          </a:p>
          <a:p>
            <a:pPr algn="l" marL="626111" indent="-313055" lvl="1">
              <a:lnSpc>
                <a:spcPts val="5162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Lebih besar / sama dengan (&gt;=)</a:t>
            </a:r>
          </a:p>
          <a:p>
            <a:pPr algn="l" marL="626111" indent="-313055" lvl="1">
              <a:lnSpc>
                <a:spcPts val="5162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Lebih kecil / sama dengan (&lt;=)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272157"/>
            <a:ext cx="8115300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5000" spc="-105" b="true">
                <a:solidFill>
                  <a:srgbClr val="FFFFF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Operator Pembanding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028700" y="7370318"/>
            <a:ext cx="3505562" cy="788751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11477229" y="2170092"/>
            <a:ext cx="5062228" cy="5946817"/>
          </a:xfrm>
          <a:custGeom>
            <a:avLst/>
            <a:gdLst/>
            <a:ahLst/>
            <a:cxnLst/>
            <a:rect r="r" b="b" t="t" l="l"/>
            <a:pathLst>
              <a:path h="5946817" w="5062228">
                <a:moveTo>
                  <a:pt x="0" y="0"/>
                </a:moveTo>
                <a:lnTo>
                  <a:pt x="5062228" y="0"/>
                </a:lnTo>
                <a:lnTo>
                  <a:pt x="5062228" y="5946816"/>
                </a:lnTo>
                <a:lnTo>
                  <a:pt x="0" y="59468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078732"/>
            <a:ext cx="8115300" cy="2313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7" indent="-377824" lvl="1">
              <a:lnSpc>
                <a:spcPts val="6229"/>
              </a:lnSpc>
              <a:buFont typeface="Arial"/>
              <a:buChar char="•"/>
            </a:pPr>
            <a:r>
              <a:rPr lang="en-US" sz="3499" spc="-73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AND (&amp;&amp;)</a:t>
            </a:r>
          </a:p>
          <a:p>
            <a:pPr algn="l" marL="755647" indent="-377824" lvl="1">
              <a:lnSpc>
                <a:spcPts val="6229"/>
              </a:lnSpc>
              <a:buFont typeface="Arial"/>
              <a:buChar char="•"/>
            </a:pPr>
            <a:r>
              <a:rPr lang="en-US" sz="3499" spc="-73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OR (||)</a:t>
            </a:r>
          </a:p>
          <a:p>
            <a:pPr algn="l" marL="755647" indent="-377824" lvl="1">
              <a:lnSpc>
                <a:spcPts val="6229"/>
              </a:lnSpc>
              <a:buFont typeface="Arial"/>
              <a:buChar char="•"/>
            </a:pPr>
            <a:r>
              <a:rPr lang="en-US" sz="3499" spc="-73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NOT (!)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272157"/>
            <a:ext cx="8115300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5000" spc="-105" b="true">
                <a:solidFill>
                  <a:srgbClr val="FFFFF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Operator Logika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028700" y="7370318"/>
            <a:ext cx="3505562" cy="788751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9797913" y="2157857"/>
            <a:ext cx="7315200" cy="2596896"/>
          </a:xfrm>
          <a:custGeom>
            <a:avLst/>
            <a:gdLst/>
            <a:ahLst/>
            <a:cxnLst/>
            <a:rect r="r" b="b" t="t" l="l"/>
            <a:pathLst>
              <a:path h="2596896" w="7315200">
                <a:moveTo>
                  <a:pt x="0" y="0"/>
                </a:moveTo>
                <a:lnTo>
                  <a:pt x="7315200" y="0"/>
                </a:lnTo>
                <a:lnTo>
                  <a:pt x="7315200" y="2596896"/>
                </a:lnTo>
                <a:lnTo>
                  <a:pt x="0" y="25968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465710" y="5617365"/>
            <a:ext cx="3979605" cy="2147329"/>
          </a:xfrm>
          <a:custGeom>
            <a:avLst/>
            <a:gdLst/>
            <a:ahLst/>
            <a:cxnLst/>
            <a:rect r="r" b="b" t="t" l="l"/>
            <a:pathLst>
              <a:path h="2147329" w="3979605">
                <a:moveTo>
                  <a:pt x="0" y="0"/>
                </a:moveTo>
                <a:lnTo>
                  <a:pt x="3979605" y="0"/>
                </a:lnTo>
                <a:lnTo>
                  <a:pt x="3979605" y="2147329"/>
                </a:lnTo>
                <a:lnTo>
                  <a:pt x="0" y="21473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145282"/>
            <a:ext cx="8115300" cy="383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5162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Penugasan dasar (=)</a:t>
            </a:r>
          </a:p>
          <a:p>
            <a:pPr algn="l" marL="626111" indent="-313055" lvl="1">
              <a:lnSpc>
                <a:spcPts val="5162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Penugasan tambah (+=)</a:t>
            </a:r>
          </a:p>
          <a:p>
            <a:pPr algn="l" marL="626111" indent="-313055" lvl="1">
              <a:lnSpc>
                <a:spcPts val="5162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Penugasan kurang (-=)</a:t>
            </a:r>
          </a:p>
          <a:p>
            <a:pPr algn="l" marL="626111" indent="-313055" lvl="1">
              <a:lnSpc>
                <a:spcPts val="5162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Penugasan kali (*=)</a:t>
            </a:r>
          </a:p>
          <a:p>
            <a:pPr algn="l" marL="626111" indent="-313055" lvl="1">
              <a:lnSpc>
                <a:spcPts val="5162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Penugasan bagi (/=)</a:t>
            </a:r>
          </a:p>
          <a:p>
            <a:pPr algn="l" marL="626111" indent="-313055" lvl="1">
              <a:lnSpc>
                <a:spcPts val="5162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Penugasan modulus (%=)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72157"/>
            <a:ext cx="8115300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5000" spc="-105" b="true">
                <a:solidFill>
                  <a:srgbClr val="FFFFF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Operator Penugasan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028700" y="7370318"/>
            <a:ext cx="3505562" cy="788751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11594755" y="3029666"/>
            <a:ext cx="2577837" cy="2368388"/>
          </a:xfrm>
          <a:custGeom>
            <a:avLst/>
            <a:gdLst/>
            <a:ahLst/>
            <a:cxnLst/>
            <a:rect r="r" b="b" t="t" l="l"/>
            <a:pathLst>
              <a:path h="2368388" w="2577837">
                <a:moveTo>
                  <a:pt x="0" y="0"/>
                </a:moveTo>
                <a:lnTo>
                  <a:pt x="2577837" y="0"/>
                </a:lnTo>
                <a:lnTo>
                  <a:pt x="2577837" y="2368388"/>
                </a:lnTo>
                <a:lnTo>
                  <a:pt x="0" y="23683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42277" y="2673423"/>
            <a:ext cx="3048793" cy="2860784"/>
          </a:xfrm>
          <a:custGeom>
            <a:avLst/>
            <a:gdLst/>
            <a:ahLst/>
            <a:cxnLst/>
            <a:rect r="r" b="b" t="t" l="l"/>
            <a:pathLst>
              <a:path h="2860784" w="3048793">
                <a:moveTo>
                  <a:pt x="0" y="0"/>
                </a:moveTo>
                <a:lnTo>
                  <a:pt x="3048794" y="0"/>
                </a:lnTo>
                <a:lnTo>
                  <a:pt x="3048794" y="2860784"/>
                </a:lnTo>
                <a:lnTo>
                  <a:pt x="0" y="28607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725241" y="6031456"/>
            <a:ext cx="4663792" cy="1587633"/>
          </a:xfrm>
          <a:custGeom>
            <a:avLst/>
            <a:gdLst/>
            <a:ahLst/>
            <a:cxnLst/>
            <a:rect r="r" b="b" t="t" l="l"/>
            <a:pathLst>
              <a:path h="1587633" w="4663792">
                <a:moveTo>
                  <a:pt x="0" y="0"/>
                </a:moveTo>
                <a:lnTo>
                  <a:pt x="4663792" y="0"/>
                </a:lnTo>
                <a:lnTo>
                  <a:pt x="4663792" y="1587633"/>
                </a:lnTo>
                <a:lnTo>
                  <a:pt x="0" y="15876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975735"/>
            <a:ext cx="8115300" cy="173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5" indent="-431797" lvl="1">
              <a:lnSpc>
                <a:spcPts val="7119"/>
              </a:lnSpc>
              <a:buFont typeface="Arial"/>
              <a:buChar char="•"/>
            </a:pPr>
            <a:r>
              <a:rPr lang="en-US" sz="3999" spc="-83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Increment (++)</a:t>
            </a:r>
          </a:p>
          <a:p>
            <a:pPr algn="l" marL="863595" indent="-431797" lvl="1">
              <a:lnSpc>
                <a:spcPts val="7119"/>
              </a:lnSpc>
              <a:buFont typeface="Arial"/>
              <a:buChar char="•"/>
            </a:pPr>
            <a:r>
              <a:rPr lang="en-US" sz="3999" spc="-83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Decrement(--)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72157"/>
            <a:ext cx="9355805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5000" spc="-105" b="true">
                <a:solidFill>
                  <a:srgbClr val="FFFFF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Operator increment &amp; decement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true" flipV="false" rot="-2700000">
            <a:off x="11489082" y="678848"/>
            <a:ext cx="3065667" cy="276570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5162782">
            <a:off x="11300136" y="7852864"/>
            <a:ext cx="1701784" cy="216916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837574" y="3322955"/>
            <a:ext cx="8115300" cy="358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Operator adalah simbol yang membantu manipulasi data dan logika program.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Terdapat berbagai jenis operator dengan fungsi spesifik, seperti aritmatika, logika, pembanding, dan lainnya.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Pemahaman operator penting untuk menulis program yang efisien dan efektif.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627100"/>
            <a:ext cx="8115300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5000" spc="-105" b="true">
                <a:solidFill>
                  <a:srgbClr val="FFFFF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Kesimpulan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6434740" y="3029716"/>
            <a:ext cx="5418519" cy="390285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872840" y="4333504"/>
            <a:ext cx="8542321" cy="158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81"/>
              </a:lnSpc>
            </a:pPr>
            <a:r>
              <a:rPr lang="en-US" b="true" sz="12296" spc="-258">
                <a:solidFill>
                  <a:srgbClr val="FFFFF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Q&amp;A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4247502" y="2732003"/>
            <a:ext cx="9659646" cy="5216209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872840" y="4333504"/>
            <a:ext cx="8542321" cy="158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81"/>
              </a:lnSpc>
            </a:pPr>
            <a:r>
              <a:rPr lang="en-US" b="true" sz="12296" spc="-258">
                <a:solidFill>
                  <a:srgbClr val="FFFFF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DAGaY6mfGmU</dc:identifier>
  <dcterms:modified xsi:type="dcterms:W3CDTF">2011-08-01T06:04:30Z</dcterms:modified>
  <cp:revision>1</cp:revision>
  <dc:title>Operator dasar dalam c++</dc:title>
</cp:coreProperties>
</file>