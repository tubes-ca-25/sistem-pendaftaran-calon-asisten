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3" r:id="rId6"/>
    <p:sldId id="262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CC3399"/>
    <a:srgbClr val="70AC2E"/>
    <a:srgbClr val="C19FFF"/>
    <a:srgbClr val="CAB4EA"/>
    <a:srgbClr val="D3B5E9"/>
    <a:srgbClr val="D68B1C"/>
    <a:srgbClr val="FFE0A3"/>
    <a:srgbClr val="D0005E"/>
    <a:srgbClr val="BE026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9785" y="680310"/>
            <a:ext cx="7772400" cy="763525"/>
          </a:xfrm>
          <a:effectLst>
            <a:outerShdw blurRad="25400" dist="38100" dir="1920000" algn="tl" rotWithShape="0">
              <a:schemeClr val="bg1"/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4130" y="1596540"/>
            <a:ext cx="6400800" cy="1221640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</a:t>
            </a:r>
          </a:p>
          <a:p>
            <a:r>
              <a:rPr lang="en-US" dirty="0" smtClean="0"/>
              <a:t>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833015"/>
            <a:ext cx="8229600" cy="458115"/>
          </a:xfrm>
          <a:effectLst/>
        </p:spPr>
        <p:txBody>
          <a:bodyPr>
            <a:normAutofit/>
          </a:bodyPr>
          <a:lstStyle>
            <a:lvl1pPr algn="r">
              <a:defRPr sz="36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5" y="1596541"/>
            <a:ext cx="8229600" cy="4428444"/>
          </a:xfrm>
        </p:spPr>
        <p:txBody>
          <a:bodyPr/>
          <a:lstStyle>
            <a:lvl1pPr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014" y="527605"/>
            <a:ext cx="7016195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6015" y="1291130"/>
            <a:ext cx="7016195" cy="4581150"/>
          </a:xfrm>
        </p:spPr>
        <p:txBody>
          <a:bodyPr/>
          <a:lstStyle>
            <a:lvl1pPr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670" y="833015"/>
            <a:ext cx="8229600" cy="610820"/>
          </a:xfrm>
          <a:effectLst/>
        </p:spPr>
        <p:txBody>
          <a:bodyPr>
            <a:normAutofit/>
          </a:bodyPr>
          <a:lstStyle>
            <a:lvl1pPr algn="r">
              <a:defRPr sz="3600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1670" y="1577497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670" y="2207360"/>
            <a:ext cx="4040188" cy="3035058"/>
          </a:xfrm>
        </p:spPr>
        <p:txBody>
          <a:bodyPr/>
          <a:lstStyle>
            <a:lvl1pPr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6790" y="1577497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6790" y="2207360"/>
            <a:ext cx="4041775" cy="3035058"/>
          </a:xfrm>
        </p:spPr>
        <p:txBody>
          <a:bodyPr/>
          <a:lstStyle>
            <a:lvl1pPr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12/29/2015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12/29/2015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12/29/2015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12/29/2015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12/29/2015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12/29/2015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d-ID" b="1" dirty="0" smtClean="0"/>
              <a:t>SUB SISTEM METODE SAW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57422" y="6072206"/>
            <a:ext cx="6400800" cy="603626"/>
          </a:xfrm>
        </p:spPr>
        <p:txBody>
          <a:bodyPr>
            <a:normAutofit/>
          </a:bodyPr>
          <a:lstStyle/>
          <a:p>
            <a:r>
              <a:rPr lang="id-ID" b="1" dirty="0" smtClean="0">
                <a:solidFill>
                  <a:schemeClr val="accent6">
                    <a:lumMod val="75000"/>
                  </a:schemeClr>
                </a:solidFill>
              </a:rPr>
              <a:t>LILIS NURHAYATI S.Kom M.Eng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96541"/>
            <a:ext cx="8678565" cy="1332393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id-ID" b="1" dirty="0" smtClean="0">
                <a:solidFill>
                  <a:schemeClr val="accent6">
                    <a:lumMod val="75000"/>
                  </a:schemeClr>
                </a:solidFill>
              </a:rPr>
              <a:t>Penentuan  Penerima  Beasiswa </a:t>
            </a:r>
            <a:r>
              <a:rPr lang="id-ID" b="1" dirty="0" smtClean="0">
                <a:solidFill>
                  <a:schemeClr val="accent6">
                    <a:lumMod val="75000"/>
                  </a:schemeClr>
                </a:solidFill>
              </a:rPr>
              <a:t>di Rumah  </a:t>
            </a:r>
            <a:r>
              <a:rPr lang="id-ID" b="1" dirty="0" smtClean="0">
                <a:solidFill>
                  <a:schemeClr val="accent6">
                    <a:lumMod val="75000"/>
                  </a:schemeClr>
                </a:solidFill>
              </a:rPr>
              <a:t>Zakat  Indonesia  (RZI) </a:t>
            </a:r>
            <a:r>
              <a:rPr lang="id-ID" b="1" dirty="0" smtClean="0">
                <a:solidFill>
                  <a:schemeClr val="accent6">
                    <a:lumMod val="75000"/>
                  </a:schemeClr>
                </a:solidFill>
              </a:rPr>
              <a:t>dengan  </a:t>
            </a:r>
            <a:r>
              <a:rPr lang="id-ID" b="1" dirty="0" smtClean="0">
                <a:solidFill>
                  <a:schemeClr val="accent6">
                    <a:lumMod val="75000"/>
                  </a:schemeClr>
                </a:solidFill>
              </a:rPr>
              <a:t>menggunakan  metode </a:t>
            </a:r>
            <a:r>
              <a:rPr lang="id-ID" b="1" dirty="0" smtClean="0">
                <a:solidFill>
                  <a:schemeClr val="accent6">
                    <a:lumMod val="75000"/>
                  </a:schemeClr>
                </a:solidFill>
              </a:rPr>
              <a:t>SAW</a:t>
            </a:r>
          </a:p>
          <a:p>
            <a:endParaRPr lang="id-ID" b="1" dirty="0" smtClean="0">
              <a:solidFill>
                <a:schemeClr val="accent6">
                  <a:lumMod val="75000"/>
                </a:schemeClr>
              </a:solidFill>
            </a:endParaRPr>
          </a:p>
          <a:p>
            <a:pPr>
              <a:buNone/>
            </a:pP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71736" y="2857496"/>
          <a:ext cx="3714776" cy="2944368"/>
        </p:xfrm>
        <a:graphic>
          <a:graphicData uri="http://schemas.openxmlformats.org/drawingml/2006/table">
            <a:tbl>
              <a:tblPr/>
              <a:tblGrid>
                <a:gridCol w="799940"/>
                <a:gridCol w="2914836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800" b="1" dirty="0">
                          <a:latin typeface="Calibri"/>
                          <a:ea typeface="Calibri"/>
                          <a:cs typeface="Times New Roman"/>
                        </a:rPr>
                        <a:t>No</a:t>
                      </a:r>
                      <a:endParaRPr lang="id-ID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800" b="1" dirty="0">
                          <a:latin typeface="Calibri"/>
                          <a:ea typeface="Calibri"/>
                          <a:cs typeface="Times New Roman"/>
                        </a:rPr>
                        <a:t>Alternatif</a:t>
                      </a:r>
                      <a:endParaRPr lang="id-ID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8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id-ID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800" b="1">
                          <a:latin typeface="Calibri"/>
                          <a:ea typeface="Calibri"/>
                          <a:cs typeface="Times New Roman"/>
                        </a:rPr>
                        <a:t>Arif</a:t>
                      </a:r>
                      <a:endParaRPr lang="id-ID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8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id-ID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800" b="1">
                          <a:latin typeface="Calibri"/>
                          <a:ea typeface="Calibri"/>
                          <a:cs typeface="Times New Roman"/>
                        </a:rPr>
                        <a:t>Putri</a:t>
                      </a:r>
                      <a:endParaRPr lang="id-ID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800" b="1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id-ID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800" b="1">
                          <a:latin typeface="Calibri"/>
                          <a:ea typeface="Calibri"/>
                          <a:cs typeface="Times New Roman"/>
                        </a:rPr>
                        <a:t>Welly</a:t>
                      </a:r>
                      <a:endParaRPr lang="id-ID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800" b="1"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id-ID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800" b="1">
                          <a:latin typeface="Calibri"/>
                          <a:ea typeface="Calibri"/>
                          <a:cs typeface="Times New Roman"/>
                        </a:rPr>
                        <a:t>Aida</a:t>
                      </a:r>
                      <a:endParaRPr lang="id-ID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800" b="1"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  <a:endParaRPr lang="id-ID" sz="11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2800" b="1" dirty="0">
                          <a:latin typeface="Calibri"/>
                          <a:ea typeface="Calibri"/>
                          <a:cs typeface="Times New Roman"/>
                        </a:rPr>
                        <a:t>Putra</a:t>
                      </a:r>
                      <a:endParaRPr lang="id-ID" sz="11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id-ID" sz="6600" b="1" dirty="0" smtClean="0"/>
              <a:t>Kreteria</a:t>
            </a:r>
            <a:endParaRPr lang="en-US" sz="6600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43108" y="1500174"/>
          <a:ext cx="6286544" cy="4379532"/>
        </p:xfrm>
        <a:graphic>
          <a:graphicData uri="http://schemas.openxmlformats.org/drawingml/2006/table">
            <a:tbl>
              <a:tblPr/>
              <a:tblGrid>
                <a:gridCol w="1714512"/>
                <a:gridCol w="4572032"/>
              </a:tblGrid>
              <a:tr h="535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3600" b="1" dirty="0">
                          <a:latin typeface="Calibri"/>
                          <a:ea typeface="Calibri"/>
                          <a:cs typeface="Times New Roman"/>
                        </a:rPr>
                        <a:t>Kriteria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3600" b="1" dirty="0">
                          <a:latin typeface="Calibri"/>
                          <a:ea typeface="Calibri"/>
                          <a:cs typeface="Times New Roman"/>
                        </a:rPr>
                        <a:t>Nama Kriteria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3600">
                          <a:latin typeface="Calibri"/>
                          <a:ea typeface="Calibri"/>
                          <a:cs typeface="Times New Roman"/>
                        </a:rPr>
                        <a:t>C1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3600" dirty="0">
                          <a:latin typeface="Calibri"/>
                          <a:ea typeface="Calibri"/>
                          <a:cs typeface="Times New Roman"/>
                        </a:rPr>
                        <a:t>Penghasilan Orang Tua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3600">
                          <a:latin typeface="Calibri"/>
                          <a:ea typeface="Calibri"/>
                          <a:cs typeface="Times New Roman"/>
                        </a:rPr>
                        <a:t>C2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3600" dirty="0">
                          <a:latin typeface="Calibri"/>
                          <a:ea typeface="Calibri"/>
                          <a:cs typeface="Times New Roman"/>
                        </a:rPr>
                        <a:t>Jumlah Saudara Yang sekolah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3600">
                          <a:latin typeface="Calibri"/>
                          <a:ea typeface="Calibri"/>
                          <a:cs typeface="Times New Roman"/>
                        </a:rPr>
                        <a:t>C3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3600" dirty="0">
                          <a:latin typeface="Calibri"/>
                          <a:ea typeface="Calibri"/>
                          <a:cs typeface="Times New Roman"/>
                        </a:rPr>
                        <a:t>Pekerjaan Orang Tua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3600">
                          <a:latin typeface="Calibri"/>
                          <a:ea typeface="Calibri"/>
                          <a:cs typeface="Times New Roman"/>
                        </a:rPr>
                        <a:t>C4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3600" dirty="0">
                          <a:latin typeface="Calibri"/>
                          <a:ea typeface="Calibri"/>
                          <a:cs typeface="Times New Roman"/>
                        </a:rPr>
                        <a:t>Riwayat </a:t>
                      </a:r>
                      <a:r>
                        <a:rPr lang="id-ID" sz="3600" dirty="0" smtClean="0">
                          <a:latin typeface="Calibri"/>
                          <a:ea typeface="Calibri"/>
                          <a:cs typeface="Times New Roman"/>
                        </a:rPr>
                        <a:t> Beasiswa</a:t>
                      </a:r>
                      <a:endParaRPr lang="id-ID" sz="3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7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3600">
                          <a:latin typeface="Calibri"/>
                          <a:ea typeface="Calibri"/>
                          <a:cs typeface="Times New Roman"/>
                        </a:rPr>
                        <a:t>C5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id-ID" sz="3600" dirty="0">
                          <a:latin typeface="Calibri"/>
                          <a:ea typeface="Calibri"/>
                          <a:cs typeface="Times New Roman"/>
                        </a:rPr>
                        <a:t>Rata-Rata nilai rapot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57158" y="357166"/>
            <a:ext cx="8329642" cy="5662634"/>
          </a:xfrm>
        </p:spPr>
        <p:txBody>
          <a:bodyPr/>
          <a:lstStyle/>
          <a:p>
            <a:pPr>
              <a:buNone/>
            </a:pPr>
            <a:r>
              <a:rPr lang="id-ID" dirty="0" smtClean="0"/>
              <a:t>		</a:t>
            </a:r>
            <a:endParaRPr lang="id-ID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0"/>
            <a:ext cx="3857652" cy="3500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48" y="214290"/>
            <a:ext cx="4857752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3357562"/>
            <a:ext cx="3714776" cy="1252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214810" y="2857496"/>
            <a:ext cx="4929190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/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14282" y="4572008"/>
            <a:ext cx="4000528" cy="208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/>
          <p:cNvPicPr/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214810" y="4500570"/>
            <a:ext cx="4929190" cy="2357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4282" y="357166"/>
            <a:ext cx="8472518" cy="5662634"/>
          </a:xfrm>
        </p:spPr>
        <p:txBody>
          <a:bodyPr/>
          <a:lstStyle/>
          <a:p>
            <a:r>
              <a:rPr lang="id-ID" b="1" dirty="0" smtClean="0">
                <a:solidFill>
                  <a:srgbClr val="002060"/>
                </a:solidFill>
              </a:rPr>
              <a:t>Bobot kepentingan Kriteria</a:t>
            </a:r>
          </a:p>
          <a:p>
            <a:endParaRPr lang="id-ID" dirty="0" smtClean="0"/>
          </a:p>
          <a:p>
            <a:endParaRPr lang="id-ID" dirty="0" smtClean="0"/>
          </a:p>
          <a:p>
            <a:endParaRPr lang="id-ID" dirty="0" smtClean="0"/>
          </a:p>
          <a:p>
            <a:pPr lvl="0"/>
            <a:r>
              <a:rPr lang="id-ID" dirty="0" smtClean="0"/>
              <a:t>Normalisasi matrix (Index Kecocokan)</a:t>
            </a:r>
          </a:p>
          <a:p>
            <a:pPr>
              <a:buNone/>
            </a:pPr>
            <a:r>
              <a:rPr lang="id-ID" sz="2000" dirty="0" smtClean="0"/>
              <a:t>		Dengan  menormalisasikan  matriks  berdasarkan  rumus  persamaan  seperti  yang  terlampir,  maka  nilai normalisasi matriks setiap alternatif adalah:</a:t>
            </a:r>
          </a:p>
          <a:p>
            <a:pPr>
              <a:buNone/>
            </a:pPr>
            <a:endParaRPr lang="id-ID" sz="2000" dirty="0" smtClean="0"/>
          </a:p>
          <a:p>
            <a:endParaRPr lang="id-ID" dirty="0" smtClean="0"/>
          </a:p>
          <a:p>
            <a:pPr>
              <a:buNone/>
            </a:pPr>
            <a:endParaRPr lang="id-ID" dirty="0"/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928670"/>
            <a:ext cx="4071966" cy="1500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0593" y="3810317"/>
            <a:ext cx="254340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34539" y="3865291"/>
            <a:ext cx="2516473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56426" y="3865291"/>
            <a:ext cx="2505075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Content Placeholder 3"/>
          <p:cNvPicPr>
            <a:picLocks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786314" y="214290"/>
            <a:ext cx="3786182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0"/>
            <a:ext cx="4214842" cy="3071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Content Placeholder 4"/>
          <p:cNvPicPr>
            <a:picLocks noGrp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929190" y="0"/>
            <a:ext cx="3714776" cy="3195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2910" y="3214686"/>
            <a:ext cx="6572296" cy="3000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4282" y="285728"/>
            <a:ext cx="8472518" cy="5734072"/>
          </a:xfrm>
        </p:spPr>
        <p:txBody>
          <a:bodyPr/>
          <a:lstStyle/>
          <a:p>
            <a:pPr>
              <a:buNone/>
            </a:pPr>
            <a:r>
              <a:rPr lang="id-ID" sz="2000" b="1" dirty="0" smtClean="0">
                <a:solidFill>
                  <a:srgbClr val="002060"/>
                </a:solidFill>
              </a:rPr>
              <a:t>						Maka </a:t>
            </a:r>
            <a:r>
              <a:rPr lang="id-ID" sz="2000" b="1" dirty="0" smtClean="0">
                <a:solidFill>
                  <a:srgbClr val="002060"/>
                </a:solidFill>
              </a:rPr>
              <a:t>nilai total integral untuk </a:t>
            </a:r>
            <a:r>
              <a:rPr lang="id-ID" sz="2000" b="1" dirty="0" smtClean="0">
                <a:solidFill>
                  <a:srgbClr val="002060"/>
                </a:solidFill>
              </a:rPr>
              <a:t>						setiap </a:t>
            </a:r>
            <a:r>
              <a:rPr lang="id-ID" sz="2000" b="1" dirty="0" smtClean="0">
                <a:solidFill>
                  <a:srgbClr val="002060"/>
                </a:solidFill>
              </a:rPr>
              <a:t>alternatif adalah: V=  W x R</a:t>
            </a:r>
          </a:p>
          <a:p>
            <a:pPr lvl="0">
              <a:buNone/>
            </a:pPr>
            <a:r>
              <a:rPr lang="id-ID" sz="2000" b="1" dirty="0" smtClean="0">
                <a:solidFill>
                  <a:srgbClr val="002060"/>
                </a:solidFill>
              </a:rPr>
              <a:t>						Alternatif </a:t>
            </a:r>
            <a:r>
              <a:rPr lang="id-ID" sz="2000" b="1" dirty="0" smtClean="0">
                <a:solidFill>
                  <a:srgbClr val="002060"/>
                </a:solidFill>
              </a:rPr>
              <a:t>Optimal = Maks V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428736"/>
            <a:ext cx="5214974" cy="4200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/>
          <p:nvPr/>
        </p:nvPicPr>
        <p:blipFill>
          <a:blip r:embed="rId3"/>
          <a:srcRect t="58909" r="49978"/>
          <a:stretch>
            <a:fillRect/>
          </a:stretch>
        </p:blipFill>
        <p:spPr bwMode="auto">
          <a:xfrm>
            <a:off x="5572132" y="2786058"/>
            <a:ext cx="3357586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4282" y="428604"/>
            <a:ext cx="8472518" cy="6072230"/>
          </a:xfrm>
        </p:spPr>
        <p:txBody>
          <a:bodyPr/>
          <a:lstStyle/>
          <a:p>
            <a:pPr>
              <a:buNone/>
            </a:pPr>
            <a:r>
              <a:rPr lang="id-ID" dirty="0" smtClean="0"/>
              <a:t>		</a:t>
            </a:r>
            <a:endParaRPr lang="id-ID" dirty="0" smtClean="0"/>
          </a:p>
          <a:p>
            <a:pPr>
              <a:buNone/>
            </a:pPr>
            <a:endParaRPr lang="id-ID" dirty="0" smtClean="0"/>
          </a:p>
          <a:p>
            <a:pPr>
              <a:buNone/>
            </a:pPr>
            <a:r>
              <a:rPr lang="id-ID" dirty="0" smtClean="0"/>
              <a:t>	</a:t>
            </a:r>
            <a:r>
              <a:rPr lang="id-ID" b="1" dirty="0" smtClean="0">
                <a:solidFill>
                  <a:srgbClr val="002060"/>
                </a:solidFill>
              </a:rPr>
              <a:t>Dari </a:t>
            </a:r>
            <a:r>
              <a:rPr lang="id-ID" b="1" dirty="0" smtClean="0">
                <a:solidFill>
                  <a:srgbClr val="002060"/>
                </a:solidFill>
              </a:rPr>
              <a:t>tabel di bawah, maka yang berhak mendapatkan beasiswa yang direkomendasikan berdasarkan pencarian menggunakan Simple  Additive  Weighting adalah  alternatif  2  A2=Putri  yaitu  dengan  nilai  total  integral  13,55.</a:t>
            </a:r>
          </a:p>
          <a:p>
            <a:pPr>
              <a:buNone/>
            </a:pPr>
            <a:endParaRPr lang="id-ID" dirty="0"/>
          </a:p>
        </p:txBody>
      </p:sp>
      <p:pic>
        <p:nvPicPr>
          <p:cNvPr id="5" name="Picture 4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786190"/>
            <a:ext cx="8143932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69</Words>
  <Application>Microsoft Office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SUB SISTEM METODE SAW</vt:lpstr>
      <vt:lpstr>Slide Title</vt:lpstr>
      <vt:lpstr>Kreteria</vt:lpstr>
      <vt:lpstr>Slide 4</vt:lpstr>
      <vt:lpstr>Slide 5</vt:lpstr>
      <vt:lpstr>Slide 6</vt:lpstr>
      <vt:lpstr>Slide 7</vt:lpstr>
      <vt:lpstr>Slide 8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user</cp:lastModifiedBy>
  <cp:revision>43</cp:revision>
  <dcterms:created xsi:type="dcterms:W3CDTF">2013-08-21T19:17:07Z</dcterms:created>
  <dcterms:modified xsi:type="dcterms:W3CDTF">2015-12-29T08:22:06Z</dcterms:modified>
</cp:coreProperties>
</file>